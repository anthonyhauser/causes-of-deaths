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401" r:id="rId2"/>
    <p:sldId id="402" r:id="rId3"/>
    <p:sldId id="449" r:id="rId4"/>
    <p:sldId id="448" r:id="rId5"/>
    <p:sldId id="461" r:id="rId6"/>
    <p:sldId id="456" r:id="rId7"/>
    <p:sldId id="463" r:id="rId8"/>
    <p:sldId id="450" r:id="rId9"/>
    <p:sldId id="452" r:id="rId10"/>
    <p:sldId id="451" r:id="rId11"/>
    <p:sldId id="458" r:id="rId12"/>
    <p:sldId id="464" r:id="rId13"/>
    <p:sldId id="462" r:id="rId14"/>
    <p:sldId id="465" r:id="rId15"/>
    <p:sldId id="459" r:id="rId16"/>
    <p:sldId id="468" r:id="rId17"/>
    <p:sldId id="454" r:id="rId18"/>
    <p:sldId id="455" r:id="rId19"/>
    <p:sldId id="460" r:id="rId20"/>
    <p:sldId id="469"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B7C6"/>
    <a:srgbClr val="285F6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76" autoAdjust="0"/>
    <p:restoredTop sz="80141" autoAdjust="0"/>
  </p:normalViewPr>
  <p:slideViewPr>
    <p:cSldViewPr snapToGrid="0">
      <p:cViewPr varScale="1">
        <p:scale>
          <a:sx n="69" d="100"/>
          <a:sy n="69" d="100"/>
        </p:scale>
        <p:origin x="107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0DC1E-77FB-4FBF-8573-E251C34BEFE9}" type="datetimeFigureOut">
              <a:rPr lang="fr-FR" smtClean="0"/>
              <a:t>09/01/2025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2361D-D732-41E9-826A-2ADAE4A10EE7}" type="slidenum">
              <a:rPr lang="fr-FR" smtClean="0"/>
              <a:t>‹N°›</a:t>
            </a:fld>
            <a:endParaRPr lang="fr-FR"/>
          </a:p>
        </p:txBody>
      </p:sp>
    </p:spTree>
    <p:extLst>
      <p:ext uri="{BB962C8B-B14F-4D97-AF65-F5344CB8AC3E}">
        <p14:creationId xmlns:p14="http://schemas.microsoft.com/office/powerpoint/2010/main" val="54168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A42361D-D732-41E9-826A-2ADAE4A10EE7}" type="slidenum">
              <a:rPr lang="fr-FR" smtClean="0"/>
              <a:t>1</a:t>
            </a:fld>
            <a:endParaRPr lang="fr-FR"/>
          </a:p>
        </p:txBody>
      </p:sp>
    </p:spTree>
    <p:extLst>
      <p:ext uri="{BB962C8B-B14F-4D97-AF65-F5344CB8AC3E}">
        <p14:creationId xmlns:p14="http://schemas.microsoft.com/office/powerpoint/2010/main" val="233819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a:t>
            </a:r>
            <a:r>
              <a:rPr lang="en-US" dirty="0" err="1"/>
              <a:t>projet</a:t>
            </a:r>
            <a:r>
              <a:rPr lang="en-US" dirty="0"/>
              <a:t> </a:t>
            </a:r>
            <a:r>
              <a:rPr lang="en-US" dirty="0" err="1"/>
              <a:t>est</a:t>
            </a:r>
            <a:r>
              <a:rPr lang="en-US" dirty="0"/>
              <a:t> </a:t>
            </a:r>
            <a:r>
              <a:rPr lang="en-US" dirty="0" err="1"/>
              <a:t>essentiellement</a:t>
            </a:r>
            <a:r>
              <a:rPr lang="en-US" dirty="0"/>
              <a:t> </a:t>
            </a:r>
            <a:r>
              <a:rPr lang="en-US" dirty="0" err="1"/>
              <a:t>issu</a:t>
            </a:r>
            <a:r>
              <a:rPr lang="en-US" dirty="0"/>
              <a:t> d’un </a:t>
            </a:r>
            <a:r>
              <a:rPr lang="en-US" dirty="0" err="1"/>
              <a:t>projet</a:t>
            </a:r>
            <a:r>
              <a:rPr lang="en-US" dirty="0"/>
              <a:t> sur </a:t>
            </a:r>
            <a:r>
              <a:rPr lang="en-US" dirty="0" err="1"/>
              <a:t>lequel</a:t>
            </a:r>
            <a:r>
              <a:rPr lang="en-US" dirty="0"/>
              <a:t> </a:t>
            </a:r>
            <a:r>
              <a:rPr lang="en-US" dirty="0" err="1"/>
              <a:t>j’ai</a:t>
            </a:r>
            <a:r>
              <a:rPr lang="en-US" dirty="0"/>
              <a:t> </a:t>
            </a:r>
            <a:r>
              <a:rPr lang="en-US" dirty="0" err="1"/>
              <a:t>travaillé</a:t>
            </a:r>
            <a:r>
              <a:rPr lang="en-US" dirty="0"/>
              <a:t> avec Julien </a:t>
            </a:r>
            <a:r>
              <a:rPr lang="en-US" dirty="0" err="1"/>
              <a:t>notamment</a:t>
            </a:r>
            <a:r>
              <a:rPr lang="en-US" dirty="0"/>
              <a:t>.</a:t>
            </a:r>
          </a:p>
          <a:p>
            <a:r>
              <a:rPr lang="en-US" dirty="0" err="1"/>
              <a:t>S’intéressait</a:t>
            </a:r>
            <a:r>
              <a:rPr lang="en-US" dirty="0"/>
              <a:t> à la </a:t>
            </a:r>
            <a:r>
              <a:rPr lang="en-US" dirty="0" err="1"/>
              <a:t>mortalité</a:t>
            </a:r>
            <a:r>
              <a:rPr lang="en-US" dirty="0"/>
              <a:t> tout cause </a:t>
            </a:r>
            <a:r>
              <a:rPr lang="en-US" dirty="0" err="1"/>
              <a:t>confondue</a:t>
            </a:r>
            <a:r>
              <a:rPr lang="en-US" dirty="0"/>
              <a:t>, et plus </a:t>
            </a:r>
            <a:r>
              <a:rPr lang="en-US" dirty="0" err="1"/>
              <a:t>particulièrement</a:t>
            </a:r>
            <a:r>
              <a:rPr lang="en-US" dirty="0"/>
              <a:t> à la </a:t>
            </a:r>
            <a:r>
              <a:rPr lang="en-US" dirty="0" err="1"/>
              <a:t>surmortalité</a:t>
            </a:r>
            <a:r>
              <a:rPr lang="en-US" dirty="0"/>
              <a:t>, </a:t>
            </a:r>
            <a:r>
              <a:rPr lang="en-US" dirty="0" err="1"/>
              <a:t>en</a:t>
            </a:r>
            <a:r>
              <a:rPr lang="en-US" dirty="0"/>
              <a:t> Suisse et variation </a:t>
            </a:r>
            <a:r>
              <a:rPr lang="en-US" dirty="0" err="1"/>
              <a:t>géographique</a:t>
            </a:r>
            <a:r>
              <a:rPr lang="en-US" dirty="0"/>
              <a:t> et </a:t>
            </a:r>
            <a:r>
              <a:rPr lang="en-US" dirty="0" err="1"/>
              <a:t>temporelle</a:t>
            </a:r>
            <a:endParaRPr lang="en-US" dirty="0"/>
          </a:p>
          <a:p>
            <a:r>
              <a:rPr lang="en-US" dirty="0"/>
              <a:t>Les </a:t>
            </a:r>
            <a:r>
              <a:rPr lang="en-US" dirty="0" err="1"/>
              <a:t>décès</a:t>
            </a:r>
            <a:r>
              <a:rPr lang="en-US" dirty="0"/>
              <a:t> </a:t>
            </a:r>
            <a:r>
              <a:rPr lang="en-US" dirty="0" err="1"/>
              <a:t>confirmés</a:t>
            </a:r>
            <a:r>
              <a:rPr lang="en-US" dirty="0"/>
              <a:t> </a:t>
            </a:r>
            <a:r>
              <a:rPr lang="en-US" dirty="0" err="1"/>
              <a:t>en</a:t>
            </a:r>
            <a:r>
              <a:rPr lang="en-US" dirty="0"/>
              <a:t> </a:t>
            </a:r>
            <a:r>
              <a:rPr lang="en-US" dirty="0" err="1"/>
              <a:t>laboratoire</a:t>
            </a:r>
            <a:r>
              <a:rPr lang="en-US" dirty="0"/>
              <a:t> </a:t>
            </a:r>
            <a:r>
              <a:rPr lang="en-US" dirty="0" err="1"/>
              <a:t>représentaient</a:t>
            </a:r>
            <a:r>
              <a:rPr lang="en-US" dirty="0"/>
              <a:t> </a:t>
            </a:r>
            <a:r>
              <a:rPr lang="en-US" dirty="0" err="1"/>
              <a:t>seulement</a:t>
            </a:r>
            <a:r>
              <a:rPr lang="en-US" dirty="0"/>
              <a:t> 72% de la </a:t>
            </a:r>
            <a:r>
              <a:rPr lang="en-US" dirty="0" err="1"/>
              <a:t>mortalité</a:t>
            </a:r>
            <a:r>
              <a:rPr lang="en-US" dirty="0"/>
              <a:t> due covid.</a:t>
            </a:r>
          </a:p>
          <a:p>
            <a:r>
              <a:rPr lang="en-US" dirty="0" err="1"/>
              <a:t>Mesures</a:t>
            </a:r>
            <a:r>
              <a:rPr lang="en-US" dirty="0"/>
              <a:t> mis </a:t>
            </a:r>
            <a:r>
              <a:rPr lang="en-US" dirty="0" err="1"/>
              <a:t>en</a:t>
            </a:r>
            <a:r>
              <a:rPr lang="en-US" dirty="0"/>
              <a:t> place, confinement, -&gt; </a:t>
            </a:r>
            <a:r>
              <a:rPr lang="en-US" dirty="0" err="1"/>
              <a:t>réduit</a:t>
            </a:r>
            <a:r>
              <a:rPr lang="en-US" dirty="0"/>
              <a:t> </a:t>
            </a:r>
            <a:r>
              <a:rPr lang="en-US" dirty="0" err="1"/>
              <a:t>l’activité</a:t>
            </a:r>
            <a:r>
              <a:rPr lang="en-US" dirty="0"/>
              <a:t> </a:t>
            </a:r>
            <a:r>
              <a:rPr lang="en-US" dirty="0" err="1"/>
              <a:t>humaine</a:t>
            </a:r>
            <a:r>
              <a:rPr lang="en-US" dirty="0"/>
              <a:t> et le </a:t>
            </a:r>
            <a:r>
              <a:rPr lang="en-US" dirty="0" err="1"/>
              <a:t>risque</a:t>
            </a:r>
            <a:r>
              <a:rPr lang="en-US" dirty="0"/>
              <a:t> de </a:t>
            </a:r>
            <a:r>
              <a:rPr lang="en-US" dirty="0" err="1"/>
              <a:t>décès</a:t>
            </a:r>
            <a:r>
              <a:rPr lang="en-US" dirty="0"/>
              <a:t> par accident</a:t>
            </a:r>
          </a:p>
          <a:p>
            <a:r>
              <a:rPr lang="en-US" dirty="0"/>
              <a:t>À la suite de </a:t>
            </a:r>
            <a:r>
              <a:rPr lang="en-US" dirty="0" err="1"/>
              <a:t>tous</a:t>
            </a:r>
            <a:r>
              <a:rPr lang="en-US" dirty="0"/>
              <a:t> les </a:t>
            </a:r>
            <a:r>
              <a:rPr lang="en-US" dirty="0" err="1"/>
              <a:t>changement</a:t>
            </a:r>
            <a:r>
              <a:rPr lang="en-US" dirty="0"/>
              <a:t> </a:t>
            </a:r>
            <a:r>
              <a:rPr lang="fr-CH" dirty="0"/>
              <a:t>en matière de santé, de soins et de conditions de vie</a:t>
            </a:r>
            <a:endParaRPr lang="en-US" dirty="0"/>
          </a:p>
          <a:p>
            <a:r>
              <a:rPr lang="en-US" dirty="0" err="1"/>
              <a:t>Résultats</a:t>
            </a:r>
            <a:r>
              <a:rPr lang="en-US" dirty="0"/>
              <a:t> </a:t>
            </a:r>
            <a:r>
              <a:rPr lang="en-US" dirty="0" err="1"/>
              <a:t>soulèvent</a:t>
            </a:r>
            <a:r>
              <a:rPr lang="en-US" dirty="0"/>
              <a:t> </a:t>
            </a:r>
            <a:r>
              <a:rPr lang="en-US" dirty="0" err="1"/>
              <a:t>aussi</a:t>
            </a:r>
            <a:r>
              <a:rPr lang="en-US" dirty="0"/>
              <a:t> </a:t>
            </a:r>
            <a:r>
              <a:rPr lang="en-US" dirty="0" err="1"/>
              <a:t>passablement</a:t>
            </a:r>
            <a:r>
              <a:rPr lang="en-US" dirty="0"/>
              <a:t> de questions </a:t>
            </a:r>
            <a:r>
              <a:rPr lang="en-US" dirty="0" err="1"/>
              <a:t>comme</a:t>
            </a:r>
            <a:endParaRPr lang="en-US" dirty="0"/>
          </a:p>
          <a:p>
            <a:r>
              <a:rPr lang="en-US" dirty="0" err="1"/>
              <a:t>Peut</a:t>
            </a:r>
            <a:r>
              <a:rPr lang="en-US" dirty="0"/>
              <a:t>-on </a:t>
            </a:r>
            <a:r>
              <a:rPr lang="en-US" dirty="0" err="1"/>
              <a:t>mieux</a:t>
            </a:r>
            <a:r>
              <a:rPr lang="en-US" dirty="0"/>
              <a:t> identifier et </a:t>
            </a:r>
            <a:r>
              <a:rPr lang="en-US" dirty="0" err="1"/>
              <a:t>charactériser</a:t>
            </a:r>
            <a:r>
              <a:rPr lang="en-US" dirty="0"/>
              <a:t> les </a:t>
            </a:r>
            <a:r>
              <a:rPr lang="en-US" dirty="0" err="1"/>
              <a:t>décès</a:t>
            </a:r>
            <a:r>
              <a:rPr lang="en-US" dirty="0"/>
              <a:t> qui </a:t>
            </a:r>
            <a:r>
              <a:rPr lang="en-US" dirty="0" err="1"/>
              <a:t>auraient</a:t>
            </a:r>
            <a:r>
              <a:rPr lang="en-US" dirty="0"/>
              <a:t> </a:t>
            </a:r>
            <a:r>
              <a:rPr lang="en-US" dirty="0" err="1"/>
              <a:t>dû</a:t>
            </a:r>
            <a:r>
              <a:rPr lang="en-US" dirty="0"/>
              <a:t> </a:t>
            </a:r>
            <a:r>
              <a:rPr lang="en-US" dirty="0" err="1"/>
              <a:t>être</a:t>
            </a:r>
            <a:r>
              <a:rPr lang="en-US" dirty="0"/>
              <a:t> </a:t>
            </a:r>
            <a:r>
              <a:rPr lang="en-US" dirty="0" err="1"/>
              <a:t>attribués</a:t>
            </a:r>
            <a:r>
              <a:rPr lang="en-US" dirty="0"/>
              <a:t> au COVID, </a:t>
            </a:r>
            <a:r>
              <a:rPr lang="en-US" dirty="0" err="1"/>
              <a:t>mais</a:t>
            </a:r>
            <a:r>
              <a:rPr lang="en-US" dirty="0"/>
              <a:t> </a:t>
            </a:r>
            <a:r>
              <a:rPr lang="en-US" dirty="0" err="1"/>
              <a:t>ont</a:t>
            </a:r>
            <a:r>
              <a:rPr lang="en-US" dirty="0"/>
              <a:t> </a:t>
            </a:r>
            <a:r>
              <a:rPr lang="en-US" dirty="0" err="1"/>
              <a:t>été</a:t>
            </a:r>
            <a:r>
              <a:rPr lang="en-US" dirty="0"/>
              <a:t> </a:t>
            </a:r>
            <a:r>
              <a:rPr lang="en-US" dirty="0" err="1"/>
              <a:t>attribué</a:t>
            </a:r>
            <a:r>
              <a:rPr lang="en-US" dirty="0"/>
              <a:t> à </a:t>
            </a:r>
            <a:r>
              <a:rPr lang="en-US" dirty="0" err="1"/>
              <a:t>une</a:t>
            </a:r>
            <a:r>
              <a:rPr lang="en-US" dirty="0"/>
              <a:t> </a:t>
            </a:r>
            <a:r>
              <a:rPr lang="en-US" dirty="0" err="1"/>
              <a:t>autre</a:t>
            </a:r>
            <a:r>
              <a:rPr lang="en-US" dirty="0"/>
              <a:t> cause.</a:t>
            </a:r>
          </a:p>
          <a:p>
            <a:r>
              <a:rPr lang="en-US" dirty="0"/>
              <a:t>Est-</a:t>
            </a:r>
            <a:r>
              <a:rPr lang="en-US" dirty="0" err="1"/>
              <a:t>ce</a:t>
            </a:r>
            <a:r>
              <a:rPr lang="en-US" dirty="0"/>
              <a:t> </a:t>
            </a:r>
            <a:r>
              <a:rPr lang="en-US" dirty="0" err="1"/>
              <a:t>qu’on</a:t>
            </a:r>
            <a:r>
              <a:rPr lang="en-US" dirty="0"/>
              <a:t> a observe </a:t>
            </a:r>
            <a:r>
              <a:rPr lang="en-US" dirty="0" err="1"/>
              <a:t>une</a:t>
            </a:r>
            <a:r>
              <a:rPr lang="en-US" dirty="0"/>
              <a:t> deficit de </a:t>
            </a:r>
            <a:r>
              <a:rPr lang="en-US" dirty="0" err="1"/>
              <a:t>mortalité</a:t>
            </a:r>
            <a:r>
              <a:rPr lang="en-US" dirty="0"/>
              <a:t> </a:t>
            </a:r>
            <a:r>
              <a:rPr lang="en-US" dirty="0" err="1"/>
              <a:t>lié</a:t>
            </a:r>
            <a:r>
              <a:rPr lang="en-US" dirty="0"/>
              <a:t> à </a:t>
            </a:r>
            <a:r>
              <a:rPr lang="en-US" dirty="0" err="1"/>
              <a:t>une</a:t>
            </a:r>
            <a:r>
              <a:rPr lang="en-US" dirty="0"/>
              <a:t> </a:t>
            </a:r>
            <a:r>
              <a:rPr lang="en-US" dirty="0" err="1"/>
              <a:t>certaine</a:t>
            </a:r>
            <a:r>
              <a:rPr lang="en-US" dirty="0"/>
              <a:t> cause </a:t>
            </a:r>
            <a:r>
              <a:rPr lang="en-US" dirty="0" err="1"/>
              <a:t>en</a:t>
            </a:r>
            <a:r>
              <a:rPr lang="en-US" dirty="0"/>
              <a:t> raison des </a:t>
            </a:r>
            <a:r>
              <a:rPr lang="en-US" dirty="0" err="1"/>
              <a:t>effets</a:t>
            </a:r>
            <a:r>
              <a:rPr lang="en-US" dirty="0"/>
              <a:t> </a:t>
            </a:r>
            <a:r>
              <a:rPr lang="en-US" dirty="0" err="1"/>
              <a:t>indirects</a:t>
            </a:r>
            <a:r>
              <a:rPr lang="en-US" dirty="0"/>
              <a:t> de la </a:t>
            </a:r>
            <a:r>
              <a:rPr lang="en-US" dirty="0" err="1"/>
              <a:t>pandémie</a:t>
            </a:r>
            <a:r>
              <a:rPr lang="en-US" dirty="0"/>
              <a:t>.</a:t>
            </a:r>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2</a:t>
            </a:fld>
            <a:endParaRPr lang="de-CH"/>
          </a:p>
        </p:txBody>
      </p:sp>
    </p:spTree>
    <p:extLst>
      <p:ext uri="{BB962C8B-B14F-4D97-AF65-F5344CB8AC3E}">
        <p14:creationId xmlns:p14="http://schemas.microsoft.com/office/powerpoint/2010/main" val="1212483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Par étapes, ça donne les objectifs suivants</a:t>
            </a:r>
          </a:p>
          <a:p>
            <a:r>
              <a:rPr lang="fr-CH" dirty="0"/>
              <a:t>Prendre des données avant la pandémie pour estimer la mortalité attendue, par cause de décès et par groupe d’âge</a:t>
            </a:r>
          </a:p>
          <a:p>
            <a:r>
              <a:rPr lang="fr-CH" dirty="0"/>
              <a:t>Ensuite mesurer la surmortalité par cause de décès en 2020-2021 en comparant les décès observés aux décès attendues</a:t>
            </a:r>
          </a:p>
          <a:p>
            <a:r>
              <a:rPr lang="fr-CH" dirty="0"/>
              <a:t>Enfin,</a:t>
            </a:r>
          </a:p>
        </p:txBody>
      </p:sp>
      <p:sp>
        <p:nvSpPr>
          <p:cNvPr id="4" name="Slide Number Placeholder 3"/>
          <p:cNvSpPr>
            <a:spLocks noGrp="1"/>
          </p:cNvSpPr>
          <p:nvPr>
            <p:ph type="sldNum" sz="quarter" idx="5"/>
          </p:nvPr>
        </p:nvSpPr>
        <p:spPr/>
        <p:txBody>
          <a:bodyPr/>
          <a:lstStyle/>
          <a:p>
            <a:fld id="{DF285FF1-5C27-4ACA-95C0-28AC7E173261}" type="slidenum">
              <a:rPr lang="de-CH" smtClean="0"/>
              <a:t>3</a:t>
            </a:fld>
            <a:endParaRPr lang="de-CH"/>
          </a:p>
        </p:txBody>
      </p:sp>
    </p:spTree>
    <p:extLst>
      <p:ext uri="{BB962C8B-B14F-4D97-AF65-F5344CB8AC3E}">
        <p14:creationId xmlns:p14="http://schemas.microsoft.com/office/powerpoint/2010/main" val="473371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Pour cela on utilise les données collectées par l’OFS qui répertorie chaque décès entre 2011 et 2021, en lui attribuant une cause principale de décès et contenant des informations basiques telles</a:t>
            </a:r>
          </a:p>
          <a:p>
            <a:r>
              <a:rPr lang="fr-CH" dirty="0"/>
              <a:t>Ce travail de collection des données prend particulièrement de temps car il diviser en plusieurs étapes.</a:t>
            </a:r>
          </a:p>
          <a:p>
            <a:r>
              <a:rPr lang="fr-CH" dirty="0"/>
              <a:t>Premièrement, c’est le médecin qui constate le décès qui doit attribuer une cause primaire, maladie initiale qui a amorcé le processus morbide</a:t>
            </a:r>
          </a:p>
          <a:p>
            <a:r>
              <a:rPr lang="fr-CH" dirty="0"/>
              <a:t>Maladies concomitantes, tels que des comorbidités,</a:t>
            </a:r>
          </a:p>
          <a:p>
            <a:r>
              <a:rPr lang="fr-CH" dirty="0"/>
              <a:t>CIM: classification internationale des maladies</a:t>
            </a:r>
          </a:p>
        </p:txBody>
      </p:sp>
      <p:sp>
        <p:nvSpPr>
          <p:cNvPr id="4" name="Slide Number Placeholder 3"/>
          <p:cNvSpPr>
            <a:spLocks noGrp="1"/>
          </p:cNvSpPr>
          <p:nvPr>
            <p:ph type="sldNum" sz="quarter" idx="5"/>
          </p:nvPr>
        </p:nvSpPr>
        <p:spPr/>
        <p:txBody>
          <a:bodyPr/>
          <a:lstStyle/>
          <a:p>
            <a:fld id="{DF285FF1-5C27-4ACA-95C0-28AC7E173261}" type="slidenum">
              <a:rPr lang="de-CH" smtClean="0"/>
              <a:t>4</a:t>
            </a:fld>
            <a:endParaRPr lang="de-CH"/>
          </a:p>
        </p:txBody>
      </p:sp>
    </p:spTree>
    <p:extLst>
      <p:ext uri="{BB962C8B-B14F-4D97-AF65-F5344CB8AC3E}">
        <p14:creationId xmlns:p14="http://schemas.microsoft.com/office/powerpoint/2010/main" val="393088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5</a:t>
            </a:fld>
            <a:endParaRPr lang="de-CH"/>
          </a:p>
        </p:txBody>
      </p:sp>
    </p:spTree>
    <p:extLst>
      <p:ext uri="{BB962C8B-B14F-4D97-AF65-F5344CB8AC3E}">
        <p14:creationId xmlns:p14="http://schemas.microsoft.com/office/powerpoint/2010/main" val="4096005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Groupe hétérogène des autres causes et finalement le covid-19 qui est spécifique aux années 2020-21</a:t>
            </a:r>
          </a:p>
        </p:txBody>
      </p:sp>
      <p:sp>
        <p:nvSpPr>
          <p:cNvPr id="4" name="Slide Number Placeholder 3"/>
          <p:cNvSpPr>
            <a:spLocks noGrp="1"/>
          </p:cNvSpPr>
          <p:nvPr>
            <p:ph type="sldNum" sz="quarter" idx="5"/>
          </p:nvPr>
        </p:nvSpPr>
        <p:spPr/>
        <p:txBody>
          <a:bodyPr/>
          <a:lstStyle/>
          <a:p>
            <a:fld id="{DF285FF1-5C27-4ACA-95C0-28AC7E173261}" type="slidenum">
              <a:rPr lang="de-CH" smtClean="0"/>
              <a:t>6</a:t>
            </a:fld>
            <a:endParaRPr lang="de-CH"/>
          </a:p>
        </p:txBody>
      </p:sp>
    </p:spTree>
    <p:extLst>
      <p:ext uri="{BB962C8B-B14F-4D97-AF65-F5344CB8AC3E}">
        <p14:creationId xmlns:p14="http://schemas.microsoft.com/office/powerpoint/2010/main" val="2854079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Donc le premier objectif de ce projet c’est</a:t>
            </a:r>
          </a:p>
          <a:p>
            <a:r>
              <a:rPr lang="fr-CH" dirty="0"/>
              <a:t>Pour cela le modèle devra prendre en compte un certain nombre de choses</a:t>
            </a:r>
          </a:p>
          <a:p>
            <a:r>
              <a:rPr lang="fr-CH" dirty="0"/>
              <a:t>En l’absence d’événements perturbateurs tels que le covid</a:t>
            </a:r>
          </a:p>
        </p:txBody>
      </p:sp>
      <p:sp>
        <p:nvSpPr>
          <p:cNvPr id="4" name="Slide Number Placeholder 3"/>
          <p:cNvSpPr>
            <a:spLocks noGrp="1"/>
          </p:cNvSpPr>
          <p:nvPr>
            <p:ph type="sldNum" sz="quarter" idx="5"/>
          </p:nvPr>
        </p:nvSpPr>
        <p:spPr/>
        <p:txBody>
          <a:bodyPr/>
          <a:lstStyle/>
          <a:p>
            <a:fld id="{DF285FF1-5C27-4ACA-95C0-28AC7E173261}" type="slidenum">
              <a:rPr lang="de-CH" smtClean="0"/>
              <a:t>7</a:t>
            </a:fld>
            <a:endParaRPr lang="de-CH"/>
          </a:p>
        </p:txBody>
      </p:sp>
    </p:spTree>
    <p:extLst>
      <p:ext uri="{BB962C8B-B14F-4D97-AF65-F5344CB8AC3E}">
        <p14:creationId xmlns:p14="http://schemas.microsoft.com/office/powerpoint/2010/main" val="72290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Risque de mortalité de base</a:t>
            </a:r>
          </a:p>
        </p:txBody>
      </p:sp>
      <p:sp>
        <p:nvSpPr>
          <p:cNvPr id="4" name="Slide Number Placeholder 3"/>
          <p:cNvSpPr>
            <a:spLocks noGrp="1"/>
          </p:cNvSpPr>
          <p:nvPr>
            <p:ph type="sldNum" sz="quarter" idx="5"/>
          </p:nvPr>
        </p:nvSpPr>
        <p:spPr/>
        <p:txBody>
          <a:bodyPr/>
          <a:lstStyle/>
          <a:p>
            <a:fld id="{DF285FF1-5C27-4ACA-95C0-28AC7E173261}" type="slidenum">
              <a:rPr lang="de-CH" smtClean="0"/>
              <a:t>8</a:t>
            </a:fld>
            <a:endParaRPr lang="de-CH"/>
          </a:p>
        </p:txBody>
      </p:sp>
    </p:spTree>
    <p:extLst>
      <p:ext uri="{BB962C8B-B14F-4D97-AF65-F5344CB8AC3E}">
        <p14:creationId xmlns:p14="http://schemas.microsoft.com/office/powerpoint/2010/main" val="964552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9</a:t>
            </a:fld>
            <a:endParaRPr lang="de-CH"/>
          </a:p>
        </p:txBody>
      </p:sp>
    </p:spTree>
    <p:extLst>
      <p:ext uri="{BB962C8B-B14F-4D97-AF65-F5344CB8AC3E}">
        <p14:creationId xmlns:p14="http://schemas.microsoft.com/office/powerpoint/2010/main" val="922800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Agréger entre causes</a:t>
            </a:r>
          </a:p>
          <a:p>
            <a:r>
              <a:rPr lang="fr-CH" dirty="0"/>
              <a:t>Fit est bon, ce qui montre que même si le modèle est calibrer avec les données par cause, il est quand même capable de reproduire le nombre total de décès</a:t>
            </a:r>
          </a:p>
          <a:p>
            <a:r>
              <a:rPr lang="fr-CH" dirty="0"/>
              <a:t>A présent si on veut représenter la surmortalité, il suffit de faire la différence entre la mortalité observée et la mortalité attendue comme prédit par le modèle</a:t>
            </a:r>
          </a:p>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10</a:t>
            </a:fld>
            <a:endParaRPr lang="de-CH"/>
          </a:p>
        </p:txBody>
      </p:sp>
    </p:spTree>
    <p:extLst>
      <p:ext uri="{BB962C8B-B14F-4D97-AF65-F5344CB8AC3E}">
        <p14:creationId xmlns:p14="http://schemas.microsoft.com/office/powerpoint/2010/main" val="451135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Population jeune -40 ans: pas réellement de sur ou de sous-mortalité, en raison de nombre restreint de décès pour ces classes d’âge</a:t>
            </a:r>
          </a:p>
          <a:p>
            <a:r>
              <a:rPr lang="fr-CH" dirty="0"/>
              <a:t>Rassurant d’observer qu’on a pas d’excès de suicide comme certaines personnes durant le covid le prédisaient</a:t>
            </a:r>
          </a:p>
          <a:p>
            <a:r>
              <a:rPr lang="fr-CH" dirty="0"/>
              <a:t>Par contre, on observe une sous mortalité des maladies respiratoires, en raison des mesures d’hygiènes qui ont limité la circulation des virus respiratoires</a:t>
            </a:r>
          </a:p>
          <a:p>
            <a:r>
              <a:rPr lang="fr-CH" dirty="0"/>
              <a:t>Pour les plus de 65 ans on observe généralement moins décès due au cancer, maladie mentale</a:t>
            </a:r>
          </a:p>
          <a:p>
            <a:r>
              <a:rPr lang="fr-CH" dirty="0"/>
              <a:t>Autres causes: catégories assez hétérogène car elle regroupe aussi bien des décès dont la cause n’est pas connue que des maladies comme le diabète</a:t>
            </a:r>
          </a:p>
        </p:txBody>
      </p:sp>
      <p:sp>
        <p:nvSpPr>
          <p:cNvPr id="4" name="Slide Number Placeholder 3"/>
          <p:cNvSpPr>
            <a:spLocks noGrp="1"/>
          </p:cNvSpPr>
          <p:nvPr>
            <p:ph type="sldNum" sz="quarter" idx="5"/>
          </p:nvPr>
        </p:nvSpPr>
        <p:spPr/>
        <p:txBody>
          <a:bodyPr/>
          <a:lstStyle/>
          <a:p>
            <a:fld id="{DF285FF1-5C27-4ACA-95C0-28AC7E173261}" type="slidenum">
              <a:rPr lang="de-CH" smtClean="0"/>
              <a:t>11</a:t>
            </a:fld>
            <a:endParaRPr lang="de-CH"/>
          </a:p>
        </p:txBody>
      </p:sp>
    </p:spTree>
    <p:extLst>
      <p:ext uri="{BB962C8B-B14F-4D97-AF65-F5344CB8AC3E}">
        <p14:creationId xmlns:p14="http://schemas.microsoft.com/office/powerpoint/2010/main" val="3528846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Même graphe en ajoutant les décès du covid que je n’ai évidemment pas pu calibrer dans mon modèle pour des raisons évidents</a:t>
            </a:r>
          </a:p>
          <a:p>
            <a:r>
              <a:rPr lang="fr-CH" dirty="0"/>
              <a:t>Mais c’est toujours intéressant de comparer la surmortalité par cause</a:t>
            </a:r>
          </a:p>
        </p:txBody>
      </p:sp>
      <p:sp>
        <p:nvSpPr>
          <p:cNvPr id="4" name="Slide Number Placeholder 3"/>
          <p:cNvSpPr>
            <a:spLocks noGrp="1"/>
          </p:cNvSpPr>
          <p:nvPr>
            <p:ph type="sldNum" sz="quarter" idx="5"/>
          </p:nvPr>
        </p:nvSpPr>
        <p:spPr/>
        <p:txBody>
          <a:bodyPr/>
          <a:lstStyle/>
          <a:p>
            <a:fld id="{DF285FF1-5C27-4ACA-95C0-28AC7E173261}" type="slidenum">
              <a:rPr lang="de-CH" smtClean="0"/>
              <a:t>12</a:t>
            </a:fld>
            <a:endParaRPr lang="de-CH"/>
          </a:p>
        </p:txBody>
      </p:sp>
    </p:spTree>
    <p:extLst>
      <p:ext uri="{BB962C8B-B14F-4D97-AF65-F5344CB8AC3E}">
        <p14:creationId xmlns:p14="http://schemas.microsoft.com/office/powerpoint/2010/main" val="976568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13</a:t>
            </a:fld>
            <a:endParaRPr lang="de-CH"/>
          </a:p>
        </p:txBody>
      </p:sp>
    </p:spTree>
    <p:extLst>
      <p:ext uri="{BB962C8B-B14F-4D97-AF65-F5344CB8AC3E}">
        <p14:creationId xmlns:p14="http://schemas.microsoft.com/office/powerpoint/2010/main" val="429209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Un effet de moisson </a:t>
            </a:r>
          </a:p>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14</a:t>
            </a:fld>
            <a:endParaRPr lang="de-CH"/>
          </a:p>
        </p:txBody>
      </p:sp>
    </p:spTree>
    <p:extLst>
      <p:ext uri="{BB962C8B-B14F-4D97-AF65-F5344CB8AC3E}">
        <p14:creationId xmlns:p14="http://schemas.microsoft.com/office/powerpoint/2010/main" val="1375947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15</a:t>
            </a:fld>
            <a:endParaRPr lang="de-CH"/>
          </a:p>
        </p:txBody>
      </p:sp>
    </p:spTree>
    <p:extLst>
      <p:ext uri="{BB962C8B-B14F-4D97-AF65-F5344CB8AC3E}">
        <p14:creationId xmlns:p14="http://schemas.microsoft.com/office/powerpoint/2010/main" val="16669099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dirty="0"/>
              <a:t>Tester la corrélation en ajoutant un délai et on remarque que la plus haute corrélation est obtenue sans délai ou alors un petit délai de deux trois semaines</a:t>
            </a:r>
          </a:p>
        </p:txBody>
      </p:sp>
      <p:sp>
        <p:nvSpPr>
          <p:cNvPr id="4" name="Slide Number Placeholder 3"/>
          <p:cNvSpPr>
            <a:spLocks noGrp="1"/>
          </p:cNvSpPr>
          <p:nvPr>
            <p:ph type="sldNum" sz="quarter" idx="5"/>
          </p:nvPr>
        </p:nvSpPr>
        <p:spPr/>
        <p:txBody>
          <a:bodyPr/>
          <a:lstStyle/>
          <a:p>
            <a:fld id="{DF285FF1-5C27-4ACA-95C0-28AC7E173261}" type="slidenum">
              <a:rPr lang="de-CH" smtClean="0"/>
              <a:t>16</a:t>
            </a:fld>
            <a:endParaRPr lang="de-CH"/>
          </a:p>
        </p:txBody>
      </p:sp>
    </p:spTree>
    <p:extLst>
      <p:ext uri="{BB962C8B-B14F-4D97-AF65-F5344CB8AC3E}">
        <p14:creationId xmlns:p14="http://schemas.microsoft.com/office/powerpoint/2010/main" val="1831401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17</a:t>
            </a:fld>
            <a:endParaRPr lang="de-CH"/>
          </a:p>
        </p:txBody>
      </p:sp>
    </p:spTree>
    <p:extLst>
      <p:ext uri="{BB962C8B-B14F-4D97-AF65-F5344CB8AC3E}">
        <p14:creationId xmlns:p14="http://schemas.microsoft.com/office/powerpoint/2010/main" val="4024808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18</a:t>
            </a:fld>
            <a:endParaRPr lang="de-CH"/>
          </a:p>
        </p:txBody>
      </p:sp>
    </p:spTree>
    <p:extLst>
      <p:ext uri="{BB962C8B-B14F-4D97-AF65-F5344CB8AC3E}">
        <p14:creationId xmlns:p14="http://schemas.microsoft.com/office/powerpoint/2010/main" val="2245167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19</a:t>
            </a:fld>
            <a:endParaRPr lang="de-CH"/>
          </a:p>
        </p:txBody>
      </p:sp>
    </p:spTree>
    <p:extLst>
      <p:ext uri="{BB962C8B-B14F-4D97-AF65-F5344CB8AC3E}">
        <p14:creationId xmlns:p14="http://schemas.microsoft.com/office/powerpoint/2010/main" val="752264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dirty="0"/>
          </a:p>
        </p:txBody>
      </p:sp>
      <p:sp>
        <p:nvSpPr>
          <p:cNvPr id="4" name="Slide Number Placeholder 3"/>
          <p:cNvSpPr>
            <a:spLocks noGrp="1"/>
          </p:cNvSpPr>
          <p:nvPr>
            <p:ph type="sldNum" sz="quarter" idx="5"/>
          </p:nvPr>
        </p:nvSpPr>
        <p:spPr/>
        <p:txBody>
          <a:bodyPr/>
          <a:lstStyle/>
          <a:p>
            <a:fld id="{DF285FF1-5C27-4ACA-95C0-28AC7E173261}" type="slidenum">
              <a:rPr lang="de-CH" smtClean="0"/>
              <a:t>20</a:t>
            </a:fld>
            <a:endParaRPr lang="de-CH"/>
          </a:p>
        </p:txBody>
      </p:sp>
    </p:spTree>
    <p:extLst>
      <p:ext uri="{BB962C8B-B14F-4D97-AF65-F5344CB8AC3E}">
        <p14:creationId xmlns:p14="http://schemas.microsoft.com/office/powerpoint/2010/main" val="1462520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CFE8D4-E220-4856-9980-B7229DBA75B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AFCCCDE-0DE6-47C1-BA80-D2245A5C42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B3A31AF-F04D-4F55-A991-11A2E866733B}"/>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44300665-2500-4379-8B72-99B7109D448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1BC78F5-62B8-45B0-BCC2-75339B50985E}"/>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338162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1DAF69-AF33-4FF0-8CEC-E7BA64A375D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17D7496-4229-464D-BD7A-2FB714EB1D19}"/>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E1B4380-5518-411A-9202-909F52FEBC32}"/>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412DA201-911E-4C30-AB90-D9C539604C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EE6DC2-2712-4478-9BBF-FC193DEFFC98}"/>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103648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4D2B26-754F-4E1F-A756-3D417E49899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B2F6BBB-08A5-4F36-B71D-3AAFA5FB84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A5018CCD-F304-4191-BA0E-CD847BC81F3D}"/>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B859D710-868F-4532-93F7-FDC2BEB86E1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4044D3-2B6A-41D1-BAA1-93507E2DF893}"/>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1872014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399DE9-3E62-44C3-AAF2-6EE2C6649FF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5DC6608-8059-4293-ACD0-BA3D57159689}"/>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1BC9E23-E814-48CC-A952-D2ED25CE25FD}"/>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13FA831-BFDF-4345-B4E7-D24D93F664CC}"/>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6" name="Espace réservé du pied de page 5">
            <a:extLst>
              <a:ext uri="{FF2B5EF4-FFF2-40B4-BE49-F238E27FC236}">
                <a16:creationId xmlns:a16="http://schemas.microsoft.com/office/drawing/2014/main" id="{6F977884-C4B9-4FBC-B063-81EB13E0373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B9D69BF-654E-42D0-A271-48C494F94944}"/>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221605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562789-515F-42CF-9A72-0BA2D0BD9DD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F5B28D5-6C9D-47BC-8DE9-9DEEB4D3E0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4E1AB60D-7218-4D12-96C7-44F5944A0B96}"/>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1DDAB48-7600-48BA-B3A9-3CAEF83B1C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12665488-BAAA-4C9E-9E8B-67989BCE23D0}"/>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6BC3794-AAEB-4483-9A61-946F98EB1F44}"/>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8" name="Espace réservé du pied de page 7">
            <a:extLst>
              <a:ext uri="{FF2B5EF4-FFF2-40B4-BE49-F238E27FC236}">
                <a16:creationId xmlns:a16="http://schemas.microsoft.com/office/drawing/2014/main" id="{413A54F4-0282-4BB6-96EB-C4295815875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550BF1F-F630-4B8A-9EED-050BDE8137A8}"/>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1694900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3B265B-DBC4-4B83-BF93-1AA922C8C79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8CA3140-4046-4040-87BF-857BD1DF57F9}"/>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4" name="Espace réservé du pied de page 3">
            <a:extLst>
              <a:ext uri="{FF2B5EF4-FFF2-40B4-BE49-F238E27FC236}">
                <a16:creationId xmlns:a16="http://schemas.microsoft.com/office/drawing/2014/main" id="{D472C8C3-1360-48F4-A999-31ED7316371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D59EEB5-AE2C-4E5A-BE8D-DEB02D7CBBB5}"/>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859836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42D17D-E4BB-4CC7-B62D-53A33C6D5F2D}"/>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3" name="Espace réservé du pied de page 2">
            <a:extLst>
              <a:ext uri="{FF2B5EF4-FFF2-40B4-BE49-F238E27FC236}">
                <a16:creationId xmlns:a16="http://schemas.microsoft.com/office/drawing/2014/main" id="{47C31D79-9580-4486-BB43-AEF966FB19D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90E9FBB-4A16-4CB1-A750-2744A2C5B41F}"/>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2786658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0466B-D7D2-4CE8-9892-DEC96CA1677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C9B4E8A-F0D6-4CA3-8A72-D494D1F106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4585F65-7307-4F41-A35C-5E12829500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B460948E-18C1-415F-A845-D6D6C5EA9ECF}"/>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6" name="Espace réservé du pied de page 5">
            <a:extLst>
              <a:ext uri="{FF2B5EF4-FFF2-40B4-BE49-F238E27FC236}">
                <a16:creationId xmlns:a16="http://schemas.microsoft.com/office/drawing/2014/main" id="{992707E5-E1CB-48B4-AF82-DEC4C7E062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437E7E2-FEEE-4B8C-B567-9E55E5B9845B}"/>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358283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3B342A-EAE6-4B4E-8D57-F6C201550A5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6F31849-EA32-46E3-AD7A-A2CABC8060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96C1817-A7FF-4D77-A377-F838ABB0A9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1C0D3F24-3019-4F82-8F1E-AA7CE1DE9B75}"/>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6" name="Espace réservé du pied de page 5">
            <a:extLst>
              <a:ext uri="{FF2B5EF4-FFF2-40B4-BE49-F238E27FC236}">
                <a16:creationId xmlns:a16="http://schemas.microsoft.com/office/drawing/2014/main" id="{93C57D53-963F-4750-B717-C98C751A150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A6400-6D92-4E70-9C28-8A9EA22FD0B9}"/>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2069488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896461-7759-42C2-8604-A0464B0D97E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35C64ED-8A78-40DE-9B40-4B2F343E7687}"/>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F8A311-8900-4975-A459-E5B9146C8F29}"/>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11B86EBC-A884-460C-9B29-0358D265D5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D7AA11-076D-4B1F-AA66-901833B7F4D8}"/>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424037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B23EB9E-D020-4030-A2BA-54D2DCFC7D5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BB9D2A1-51E9-4C7D-ADEC-157F86BDB3F6}"/>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6C4B619-D420-4ACF-8ECE-70287F29465A}"/>
              </a:ext>
            </a:extLst>
          </p:cNvPr>
          <p:cNvSpPr>
            <a:spLocks noGrp="1"/>
          </p:cNvSpPr>
          <p:nvPr>
            <p:ph type="dt" sz="half" idx="10"/>
          </p:nvPr>
        </p:nvSpPr>
        <p:spPr/>
        <p:txBody>
          <a:body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78774BB4-A5C7-43F8-B0EA-F442D6F965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FE53841-3D68-4E95-B8B1-A1850F1FD038}"/>
              </a:ext>
            </a:extLst>
          </p:cNvPr>
          <p:cNvSpPr>
            <a:spLocks noGrp="1"/>
          </p:cNvSpPr>
          <p:nvPr>
            <p:ph type="sldNum" sz="quarter" idx="12"/>
          </p:nvPr>
        </p:nvSpPr>
        <p:spPr/>
        <p:txBody>
          <a:bodyPr/>
          <a:lstStyle/>
          <a:p>
            <a:fld id="{0811643B-12A8-4CF8-B40F-8AEF532B986D}" type="slidenum">
              <a:rPr lang="fr-FR" smtClean="0"/>
              <a:t>‹N°›</a:t>
            </a:fld>
            <a:endParaRPr lang="fr-FR"/>
          </a:p>
        </p:txBody>
      </p:sp>
    </p:spTree>
    <p:extLst>
      <p:ext uri="{BB962C8B-B14F-4D97-AF65-F5344CB8AC3E}">
        <p14:creationId xmlns:p14="http://schemas.microsoft.com/office/powerpoint/2010/main" val="196841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1379196-0B39-4F56-B0D6-E635B5E18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582B5AF-5D99-4803-9BD2-DAF6957FE5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6B05178-6D80-4652-B105-F2D49E37A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808AD-3F98-4F59-A4F4-09C7BE2D0E9D}" type="datetimeFigureOut">
              <a:rPr lang="fr-FR" smtClean="0"/>
              <a:t>09/01/2025</a:t>
            </a:fld>
            <a:endParaRPr lang="fr-FR"/>
          </a:p>
        </p:txBody>
      </p:sp>
      <p:sp>
        <p:nvSpPr>
          <p:cNvPr id="5" name="Espace réservé du pied de page 4">
            <a:extLst>
              <a:ext uri="{FF2B5EF4-FFF2-40B4-BE49-F238E27FC236}">
                <a16:creationId xmlns:a16="http://schemas.microsoft.com/office/drawing/2014/main" id="{C42AD869-3A57-41F9-A6CE-AC8FFD12E9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112BB7F-E1A9-429B-B34C-2E904340F3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11643B-12A8-4CF8-B40F-8AEF532B986D}" type="slidenum">
              <a:rPr lang="fr-FR" smtClean="0"/>
              <a:t>‹N°›</a:t>
            </a:fld>
            <a:endParaRPr lang="fr-FR"/>
          </a:p>
        </p:txBody>
      </p:sp>
    </p:spTree>
    <p:extLst>
      <p:ext uri="{BB962C8B-B14F-4D97-AF65-F5344CB8AC3E}">
        <p14:creationId xmlns:p14="http://schemas.microsoft.com/office/powerpoint/2010/main" val="522380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B11B-703F-C6A6-8B6F-A761F3070383}"/>
              </a:ext>
            </a:extLst>
          </p:cNvPr>
          <p:cNvSpPr>
            <a:spLocks noGrp="1"/>
          </p:cNvSpPr>
          <p:nvPr>
            <p:ph type="ctrTitle"/>
          </p:nvPr>
        </p:nvSpPr>
        <p:spPr>
          <a:xfrm>
            <a:off x="919238" y="1122363"/>
            <a:ext cx="10343848" cy="2387600"/>
          </a:xfrm>
        </p:spPr>
        <p:txBody>
          <a:bodyPr>
            <a:normAutofit fontScale="90000"/>
          </a:bodyPr>
          <a:lstStyle/>
          <a:p>
            <a:r>
              <a:rPr lang="en-US" b="1" dirty="0"/>
              <a:t>Examining excess mortality by cause during the COVID-19 pandemic in Switzerland</a:t>
            </a:r>
            <a:endParaRPr lang="de-CH" b="1" dirty="0"/>
          </a:p>
        </p:txBody>
      </p:sp>
      <p:sp>
        <p:nvSpPr>
          <p:cNvPr id="3" name="Subtitle 2">
            <a:extLst>
              <a:ext uri="{FF2B5EF4-FFF2-40B4-BE49-F238E27FC236}">
                <a16:creationId xmlns:a16="http://schemas.microsoft.com/office/drawing/2014/main" id="{18E30293-F913-E5A9-AA0A-6C9E7D56CD3A}"/>
              </a:ext>
            </a:extLst>
          </p:cNvPr>
          <p:cNvSpPr>
            <a:spLocks noGrp="1"/>
          </p:cNvSpPr>
          <p:nvPr>
            <p:ph type="subTitle" idx="1"/>
          </p:nvPr>
        </p:nvSpPr>
        <p:spPr>
          <a:xfrm>
            <a:off x="1524000" y="4307432"/>
            <a:ext cx="9144000" cy="1655762"/>
          </a:xfrm>
        </p:spPr>
        <p:txBody>
          <a:bodyPr>
            <a:normAutofit/>
          </a:bodyPr>
          <a:lstStyle/>
          <a:p>
            <a:r>
              <a:rPr lang="en-US" dirty="0"/>
              <a:t>09.01.2025</a:t>
            </a:r>
          </a:p>
          <a:p>
            <a:r>
              <a:rPr lang="en-US" dirty="0"/>
              <a:t>Anthony Hauser</a:t>
            </a:r>
          </a:p>
          <a:p>
            <a:endParaRPr lang="de-CH" dirty="0"/>
          </a:p>
        </p:txBody>
      </p:sp>
      <p:sp>
        <p:nvSpPr>
          <p:cNvPr id="4" name="Slide Number Placeholder 3">
            <a:extLst>
              <a:ext uri="{FF2B5EF4-FFF2-40B4-BE49-F238E27FC236}">
                <a16:creationId xmlns:a16="http://schemas.microsoft.com/office/drawing/2014/main" id="{2CF35BC3-3C6D-A1C1-AFAE-6666468D5C83}"/>
              </a:ext>
            </a:extLst>
          </p:cNvPr>
          <p:cNvSpPr>
            <a:spLocks noGrp="1"/>
          </p:cNvSpPr>
          <p:nvPr>
            <p:ph type="sldNum" sz="quarter" idx="12"/>
          </p:nvPr>
        </p:nvSpPr>
        <p:spPr/>
        <p:txBody>
          <a:bodyPr/>
          <a:lstStyle/>
          <a:p>
            <a:fld id="{5368CAA0-23FB-4232-908B-CB576EB202C9}" type="slidenum">
              <a:rPr lang="de-CH" smtClean="0"/>
              <a:t>1</a:t>
            </a:fld>
            <a:endParaRPr lang="de-CH"/>
          </a:p>
        </p:txBody>
      </p:sp>
    </p:spTree>
    <p:extLst>
      <p:ext uri="{BB962C8B-B14F-4D97-AF65-F5344CB8AC3E}">
        <p14:creationId xmlns:p14="http://schemas.microsoft.com/office/powerpoint/2010/main" val="2965936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Direct and indirect effect of COVID-19</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4542184" cy="4886922"/>
          </a:xfrm>
        </p:spPr>
        <p:txBody>
          <a:bodyPr>
            <a:normAutofit lnSpcReduction="10000"/>
          </a:bodyPr>
          <a:lstStyle/>
          <a:p>
            <a:pPr marL="0" indent="0">
              <a:buNone/>
            </a:pPr>
            <a:r>
              <a:rPr lang="en-US" sz="1600" dirty="0"/>
              <a:t>Previous project</a:t>
            </a:r>
            <a:r>
              <a:rPr lang="en-US" sz="1600" baseline="30000" dirty="0"/>
              <a:t>1.</a:t>
            </a:r>
            <a:r>
              <a:rPr lang="en-US" sz="1600" dirty="0"/>
              <a:t>:</a:t>
            </a:r>
          </a:p>
          <a:p>
            <a:r>
              <a:rPr lang="en-US" sz="1600" dirty="0"/>
              <a:t>Partition all-cause mortality into </a:t>
            </a:r>
          </a:p>
          <a:p>
            <a:pPr lvl="1"/>
            <a:r>
              <a:rPr lang="en-US" sz="1600" dirty="0"/>
              <a:t>deaths directly attributable to SARS-CoV-2 infection and,</a:t>
            </a:r>
          </a:p>
          <a:p>
            <a:pPr lvl="1"/>
            <a:r>
              <a:rPr lang="en-US" sz="1600" dirty="0"/>
              <a:t>deaths indirectly attributable to the pandemic</a:t>
            </a:r>
          </a:p>
          <a:p>
            <a:r>
              <a:rPr lang="en-US" sz="1600" dirty="0"/>
              <a:t>Laboratory-confirmed deaths underestimates COVID-19 mortality (72%)</a:t>
            </a:r>
          </a:p>
          <a:p>
            <a:r>
              <a:rPr lang="en-US" sz="1600" dirty="0"/>
              <a:t>Indirect beneficial effect of pandemic on mortality, due to </a:t>
            </a:r>
          </a:p>
          <a:p>
            <a:pPr lvl="1"/>
            <a:r>
              <a:rPr lang="en-US" sz="1600" dirty="0"/>
              <a:t>Restriction measure</a:t>
            </a:r>
          </a:p>
          <a:p>
            <a:pPr lvl="1"/>
            <a:r>
              <a:rPr lang="en-US" sz="1600" dirty="0"/>
              <a:t>mortality displacement or “harvesting effect”</a:t>
            </a:r>
          </a:p>
          <a:p>
            <a:r>
              <a:rPr lang="en-US" sz="1600" dirty="0"/>
              <a:t>Questions:</a:t>
            </a:r>
          </a:p>
          <a:p>
            <a:pPr lvl="1"/>
            <a:r>
              <a:rPr lang="en-US" sz="1600" dirty="0"/>
              <a:t>Can we identify the deaths that should have been attributed to COVID-19?</a:t>
            </a:r>
          </a:p>
          <a:p>
            <a:pPr lvl="1"/>
            <a:r>
              <a:rPr lang="en-US" sz="1600" dirty="0"/>
              <a:t>What were the indirect effects of pandemic on the different causes of deaths?</a:t>
            </a:r>
          </a:p>
          <a:p>
            <a:pPr lvl="1">
              <a:buFontTx/>
              <a:buChar char="-"/>
            </a:pPr>
            <a:endParaRPr lang="en-US" sz="1200" dirty="0"/>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2</a:t>
            </a:fld>
            <a:endParaRPr lang="de-CH"/>
          </a:p>
        </p:txBody>
      </p:sp>
      <p:pic>
        <p:nvPicPr>
          <p:cNvPr id="7" name="Image 6">
            <a:extLst>
              <a:ext uri="{FF2B5EF4-FFF2-40B4-BE49-F238E27FC236}">
                <a16:creationId xmlns:a16="http://schemas.microsoft.com/office/drawing/2014/main" id="{FDB1EAC5-4E9D-F7CF-5564-9F1ABB4BBC8B}"/>
              </a:ext>
            </a:extLst>
          </p:cNvPr>
          <p:cNvPicPr>
            <a:picLocks noChangeAspect="1"/>
          </p:cNvPicPr>
          <p:nvPr/>
        </p:nvPicPr>
        <p:blipFill>
          <a:blip r:embed="rId3"/>
          <a:stretch>
            <a:fillRect/>
          </a:stretch>
        </p:blipFill>
        <p:spPr>
          <a:xfrm>
            <a:off x="5187257" y="1517993"/>
            <a:ext cx="3812886" cy="2493041"/>
          </a:xfrm>
          <a:prstGeom prst="rect">
            <a:avLst/>
          </a:prstGeom>
        </p:spPr>
      </p:pic>
      <p:pic>
        <p:nvPicPr>
          <p:cNvPr id="12" name="Image 11">
            <a:extLst>
              <a:ext uri="{FF2B5EF4-FFF2-40B4-BE49-F238E27FC236}">
                <a16:creationId xmlns:a16="http://schemas.microsoft.com/office/drawing/2014/main" id="{4D0C1180-99BF-84D4-8E14-33FB29AA9613}"/>
              </a:ext>
            </a:extLst>
          </p:cNvPr>
          <p:cNvPicPr>
            <a:picLocks noChangeAspect="1"/>
          </p:cNvPicPr>
          <p:nvPr/>
        </p:nvPicPr>
        <p:blipFill>
          <a:blip r:embed="rId4"/>
          <a:stretch>
            <a:fillRect/>
          </a:stretch>
        </p:blipFill>
        <p:spPr>
          <a:xfrm>
            <a:off x="9165097" y="2509261"/>
            <a:ext cx="2580125" cy="255253"/>
          </a:xfrm>
          <a:prstGeom prst="rect">
            <a:avLst/>
          </a:prstGeom>
        </p:spPr>
      </p:pic>
      <p:pic>
        <p:nvPicPr>
          <p:cNvPr id="14" name="Image 13">
            <a:extLst>
              <a:ext uri="{FF2B5EF4-FFF2-40B4-BE49-F238E27FC236}">
                <a16:creationId xmlns:a16="http://schemas.microsoft.com/office/drawing/2014/main" id="{1696424D-F623-69ED-D933-4C7F6DCBED6C}"/>
              </a:ext>
            </a:extLst>
          </p:cNvPr>
          <p:cNvPicPr>
            <a:picLocks noChangeAspect="1"/>
          </p:cNvPicPr>
          <p:nvPr/>
        </p:nvPicPr>
        <p:blipFill>
          <a:blip r:embed="rId5"/>
          <a:stretch>
            <a:fillRect/>
          </a:stretch>
        </p:blipFill>
        <p:spPr>
          <a:xfrm>
            <a:off x="5314008" y="4411660"/>
            <a:ext cx="3138885" cy="1989535"/>
          </a:xfrm>
          <a:prstGeom prst="rect">
            <a:avLst/>
          </a:prstGeom>
        </p:spPr>
      </p:pic>
      <p:pic>
        <p:nvPicPr>
          <p:cNvPr id="16" name="Image 15">
            <a:extLst>
              <a:ext uri="{FF2B5EF4-FFF2-40B4-BE49-F238E27FC236}">
                <a16:creationId xmlns:a16="http://schemas.microsoft.com/office/drawing/2014/main" id="{6BA00E06-6D29-ED46-5D6E-CFE731F5B34C}"/>
              </a:ext>
            </a:extLst>
          </p:cNvPr>
          <p:cNvPicPr>
            <a:picLocks noChangeAspect="1"/>
          </p:cNvPicPr>
          <p:nvPr/>
        </p:nvPicPr>
        <p:blipFill>
          <a:blip r:embed="rId6"/>
          <a:stretch>
            <a:fillRect/>
          </a:stretch>
        </p:blipFill>
        <p:spPr>
          <a:xfrm>
            <a:off x="8490792" y="4393324"/>
            <a:ext cx="3545583" cy="2160440"/>
          </a:xfrm>
          <a:prstGeom prst="rect">
            <a:avLst/>
          </a:prstGeom>
        </p:spPr>
      </p:pic>
      <p:pic>
        <p:nvPicPr>
          <p:cNvPr id="18" name="Image 17">
            <a:extLst>
              <a:ext uri="{FF2B5EF4-FFF2-40B4-BE49-F238E27FC236}">
                <a16:creationId xmlns:a16="http://schemas.microsoft.com/office/drawing/2014/main" id="{0A3A27F5-CAF9-2110-B642-B3F1E1C29C62}"/>
              </a:ext>
            </a:extLst>
          </p:cNvPr>
          <p:cNvPicPr>
            <a:picLocks noChangeAspect="1"/>
          </p:cNvPicPr>
          <p:nvPr/>
        </p:nvPicPr>
        <p:blipFill>
          <a:blip r:embed="rId7"/>
          <a:stretch>
            <a:fillRect/>
          </a:stretch>
        </p:blipFill>
        <p:spPr>
          <a:xfrm>
            <a:off x="5135534" y="1506297"/>
            <a:ext cx="315483" cy="280429"/>
          </a:xfrm>
          <a:prstGeom prst="rect">
            <a:avLst/>
          </a:prstGeom>
        </p:spPr>
      </p:pic>
      <p:pic>
        <p:nvPicPr>
          <p:cNvPr id="20" name="Image 19">
            <a:extLst>
              <a:ext uri="{FF2B5EF4-FFF2-40B4-BE49-F238E27FC236}">
                <a16:creationId xmlns:a16="http://schemas.microsoft.com/office/drawing/2014/main" id="{DA0834F4-0B70-1DF6-E384-F8F14E201ED8}"/>
              </a:ext>
            </a:extLst>
          </p:cNvPr>
          <p:cNvPicPr>
            <a:picLocks noChangeAspect="1"/>
          </p:cNvPicPr>
          <p:nvPr/>
        </p:nvPicPr>
        <p:blipFill>
          <a:blip r:embed="rId8"/>
          <a:stretch>
            <a:fillRect/>
          </a:stretch>
        </p:blipFill>
        <p:spPr>
          <a:xfrm>
            <a:off x="9165097" y="1869238"/>
            <a:ext cx="2375733" cy="358173"/>
          </a:xfrm>
          <a:prstGeom prst="rect">
            <a:avLst/>
          </a:prstGeom>
        </p:spPr>
      </p:pic>
      <p:pic>
        <p:nvPicPr>
          <p:cNvPr id="22" name="Image 21">
            <a:extLst>
              <a:ext uri="{FF2B5EF4-FFF2-40B4-BE49-F238E27FC236}">
                <a16:creationId xmlns:a16="http://schemas.microsoft.com/office/drawing/2014/main" id="{411363DE-C4C7-197F-E80B-0DFDD294ABAE}"/>
              </a:ext>
            </a:extLst>
          </p:cNvPr>
          <p:cNvPicPr>
            <a:picLocks noChangeAspect="1"/>
          </p:cNvPicPr>
          <p:nvPr/>
        </p:nvPicPr>
        <p:blipFill>
          <a:blip r:embed="rId9"/>
          <a:stretch>
            <a:fillRect/>
          </a:stretch>
        </p:blipFill>
        <p:spPr>
          <a:xfrm>
            <a:off x="9804587" y="2207521"/>
            <a:ext cx="2303407" cy="217303"/>
          </a:xfrm>
          <a:prstGeom prst="rect">
            <a:avLst/>
          </a:prstGeom>
        </p:spPr>
      </p:pic>
      <p:sp>
        <p:nvSpPr>
          <p:cNvPr id="2" name="Content Placeholder 2">
            <a:extLst>
              <a:ext uri="{FF2B5EF4-FFF2-40B4-BE49-F238E27FC236}">
                <a16:creationId xmlns:a16="http://schemas.microsoft.com/office/drawing/2014/main" id="{7381FDD5-D8BD-7C44-649A-3EC4091D225F}"/>
              </a:ext>
            </a:extLst>
          </p:cNvPr>
          <p:cNvSpPr txBox="1">
            <a:spLocks/>
          </p:cNvSpPr>
          <p:nvPr/>
        </p:nvSpPr>
        <p:spPr>
          <a:xfrm>
            <a:off x="480119" y="6498767"/>
            <a:ext cx="3902695" cy="3446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chemeClr val="bg2">
                    <a:lumMod val="50000"/>
                  </a:schemeClr>
                </a:solidFill>
              </a:rPr>
              <a:t>1. Riou et al. (2022) Nat Com.</a:t>
            </a:r>
          </a:p>
          <a:p>
            <a:pPr marL="0" indent="0">
              <a:buFont typeface="Arial" panose="020B0604020202020204" pitchFamily="34" charset="0"/>
              <a:buNone/>
            </a:pPr>
            <a:endParaRPr lang="en-US" dirty="0">
              <a:solidFill>
                <a:schemeClr val="bg2">
                  <a:lumMod val="50000"/>
                </a:schemeClr>
              </a:solidFill>
            </a:endParaRPr>
          </a:p>
          <a:p>
            <a:pPr marL="0" indent="0">
              <a:buFont typeface="Arial" panose="020B0604020202020204" pitchFamily="34" charset="0"/>
              <a:buNone/>
            </a:pPr>
            <a:endParaRPr lang="en-US" dirty="0"/>
          </a:p>
          <a:p>
            <a:pPr marL="514350" indent="-514350">
              <a:buFont typeface="Arial" panose="020B0604020202020204" pitchFamily="34" charset="0"/>
              <a:buAutoNum type="arabicParenR"/>
            </a:pPr>
            <a:endParaRPr lang="en-US" dirty="0"/>
          </a:p>
          <a:p>
            <a:pPr lvl="1"/>
            <a:endParaRPr lang="en-US" dirty="0"/>
          </a:p>
          <a:p>
            <a:pPr marL="0" indent="0">
              <a:buFont typeface="Arial" panose="020B0604020202020204" pitchFamily="34" charset="0"/>
              <a:buNone/>
            </a:pPr>
            <a:endParaRPr lang="en-US" dirty="0"/>
          </a:p>
          <a:p>
            <a:pPr lvl="1"/>
            <a:endParaRPr lang="en-US" dirty="0"/>
          </a:p>
          <a:p>
            <a:pPr lvl="1"/>
            <a:endParaRPr lang="en-US" dirty="0"/>
          </a:p>
          <a:p>
            <a:pPr marL="0" indent="0">
              <a:buFont typeface="Arial" panose="020B0604020202020204" pitchFamily="34" charset="0"/>
              <a:buNone/>
            </a:pPr>
            <a:endParaRPr lang="en-US" b="1" dirty="0"/>
          </a:p>
        </p:txBody>
      </p:sp>
    </p:spTree>
    <p:extLst>
      <p:ext uri="{BB962C8B-B14F-4D97-AF65-F5344CB8AC3E}">
        <p14:creationId xmlns:p14="http://schemas.microsoft.com/office/powerpoint/2010/main" val="3867207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Objectives</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8" y="1469428"/>
            <a:ext cx="10503191" cy="5045672"/>
          </a:xfrm>
        </p:spPr>
        <p:txBody>
          <a:bodyPr>
            <a:normAutofit/>
          </a:bodyPr>
          <a:lstStyle/>
          <a:p>
            <a:pPr marL="514350" indent="-514350">
              <a:buAutoNum type="arabicParenR"/>
            </a:pPr>
            <a:r>
              <a:rPr lang="en-US" sz="2000" b="0" i="0" dirty="0">
                <a:solidFill>
                  <a:srgbClr val="333333"/>
                </a:solidFill>
                <a:effectLst/>
                <a:latin typeface="Helvetica Neue"/>
              </a:rPr>
              <a:t>Develop a statistical model producing expected mortality over time, by cause and age-group</a:t>
            </a:r>
          </a:p>
          <a:p>
            <a:pPr marL="514350" indent="-514350">
              <a:buAutoNum type="arabicParenR"/>
            </a:pPr>
            <a:endParaRPr lang="en-US" sz="2000" b="0" i="0" dirty="0">
              <a:solidFill>
                <a:srgbClr val="333333"/>
              </a:solidFill>
              <a:effectLst/>
              <a:latin typeface="Helvetica Neue"/>
            </a:endParaRPr>
          </a:p>
          <a:p>
            <a:pPr marL="514350" indent="-514350">
              <a:buAutoNum type="arabicParenR"/>
            </a:pPr>
            <a:r>
              <a:rPr lang="en-US" sz="2000" b="0" i="0" dirty="0">
                <a:solidFill>
                  <a:srgbClr val="333333"/>
                </a:solidFill>
                <a:effectLst/>
                <a:latin typeface="Helvetica Neue"/>
              </a:rPr>
              <a:t>Assess excess mortality during 2020-2021, by cause and age group</a:t>
            </a:r>
          </a:p>
          <a:p>
            <a:pPr marL="514350" indent="-514350">
              <a:buAutoNum type="arabicParenR"/>
            </a:pPr>
            <a:endParaRPr lang="en-US" sz="2000" b="0" i="0" dirty="0">
              <a:solidFill>
                <a:srgbClr val="333333"/>
              </a:solidFill>
              <a:effectLst/>
              <a:latin typeface="Helvetica Neue"/>
            </a:endParaRPr>
          </a:p>
          <a:p>
            <a:pPr marL="514350" indent="-514350">
              <a:buAutoNum type="arabicParenR"/>
            </a:pPr>
            <a:r>
              <a:rPr lang="en-US" sz="2000" b="0" i="0" dirty="0">
                <a:solidFill>
                  <a:srgbClr val="333333"/>
                </a:solidFill>
                <a:effectLst/>
                <a:latin typeface="Helvetica Neue"/>
              </a:rPr>
              <a:t>Investigate the correlations between mortality causes (e.g., COVID-19 and other causes)</a:t>
            </a:r>
            <a:endParaRPr lang="en-US" sz="2000"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3</a:t>
            </a:fld>
            <a:endParaRPr lang="de-CH"/>
          </a:p>
        </p:txBody>
      </p:sp>
    </p:spTree>
    <p:extLst>
      <p:ext uri="{BB962C8B-B14F-4D97-AF65-F5344CB8AC3E}">
        <p14:creationId xmlns:p14="http://schemas.microsoft.com/office/powerpoint/2010/main" val="2953990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Data: causes of deaths</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5534128" cy="5025965"/>
          </a:xfrm>
        </p:spPr>
        <p:txBody>
          <a:bodyPr>
            <a:normAutofit/>
          </a:bodyPr>
          <a:lstStyle/>
          <a:p>
            <a:pPr marL="0" indent="0">
              <a:buNone/>
            </a:pPr>
            <a:r>
              <a:rPr lang="en-US" sz="1800" b="1" dirty="0"/>
              <a:t>Causes of deaths</a:t>
            </a:r>
          </a:p>
          <a:p>
            <a:r>
              <a:rPr lang="en-US" sz="1800" dirty="0"/>
              <a:t>Deaths from 2011 to 2021</a:t>
            </a:r>
          </a:p>
          <a:p>
            <a:pPr lvl="1"/>
            <a:r>
              <a:rPr lang="en-US" sz="1800" dirty="0"/>
              <a:t>Cause of deaths</a:t>
            </a:r>
          </a:p>
          <a:p>
            <a:pPr lvl="1"/>
            <a:r>
              <a:rPr lang="en-US" sz="1800" dirty="0"/>
              <a:t>Week and year of deaths</a:t>
            </a:r>
          </a:p>
          <a:p>
            <a:pPr lvl="1"/>
            <a:r>
              <a:rPr lang="en-US" sz="1800" dirty="0"/>
              <a:t>Age, sex, canton</a:t>
            </a:r>
            <a:endParaRPr lang="en-US" sz="1800" b="1" dirty="0"/>
          </a:p>
          <a:p>
            <a:pPr marL="0" indent="0">
              <a:buNone/>
            </a:pPr>
            <a:r>
              <a:rPr lang="en-US" sz="1800" b="1" dirty="0"/>
              <a:t>Data collection</a:t>
            </a:r>
          </a:p>
          <a:p>
            <a:pPr>
              <a:buFontTx/>
              <a:buChar char="-"/>
            </a:pPr>
            <a:r>
              <a:rPr lang="en-US" sz="1800" dirty="0"/>
              <a:t>Physician who reports deaths indicate</a:t>
            </a:r>
          </a:p>
          <a:p>
            <a:pPr lvl="1">
              <a:buFontTx/>
              <a:buChar char="-"/>
            </a:pPr>
            <a:r>
              <a:rPr lang="en-US" sz="1800" b="1" dirty="0"/>
              <a:t>Primary</a:t>
            </a:r>
            <a:r>
              <a:rPr lang="en-US" sz="1800" dirty="0"/>
              <a:t> </a:t>
            </a:r>
            <a:r>
              <a:rPr lang="en-US" sz="1800" b="1" dirty="0"/>
              <a:t>cause</a:t>
            </a:r>
            <a:r>
              <a:rPr lang="en-US" sz="1800" dirty="0"/>
              <a:t>/illness (initial illness)</a:t>
            </a:r>
          </a:p>
          <a:p>
            <a:pPr lvl="1">
              <a:buFontTx/>
              <a:buChar char="-"/>
            </a:pPr>
            <a:r>
              <a:rPr lang="en-US" sz="1800" b="1" dirty="0"/>
              <a:t>Secondary</a:t>
            </a:r>
            <a:r>
              <a:rPr lang="en-US" sz="1800" dirty="0"/>
              <a:t> </a:t>
            </a:r>
            <a:r>
              <a:rPr lang="en-US" sz="1800" b="1" dirty="0"/>
              <a:t>cause</a:t>
            </a:r>
            <a:r>
              <a:rPr lang="en-US" sz="1800" dirty="0"/>
              <a:t> (direct cause)</a:t>
            </a:r>
          </a:p>
          <a:p>
            <a:pPr lvl="1">
              <a:buFontTx/>
              <a:buChar char="-"/>
            </a:pPr>
            <a:r>
              <a:rPr lang="en-US" sz="1800" b="1" dirty="0"/>
              <a:t>Concurrent illnesses</a:t>
            </a:r>
          </a:p>
          <a:p>
            <a:pPr>
              <a:buFontTx/>
              <a:buChar char="-"/>
            </a:pPr>
            <a:r>
              <a:rPr lang="en-US" sz="1800" dirty="0"/>
              <a:t>Based on this information and on the WHO guidelines, OFS will then determine and code (ICD-10)</a:t>
            </a:r>
            <a:endParaRPr lang="en-US" sz="1800" b="1" dirty="0"/>
          </a:p>
          <a:p>
            <a:pPr lvl="1">
              <a:buFontTx/>
              <a:buChar char="-"/>
            </a:pPr>
            <a:r>
              <a:rPr lang="en-US" sz="1800" b="1" dirty="0"/>
              <a:t>(Principal) Underlying cause of death</a:t>
            </a:r>
            <a:r>
              <a:rPr lang="en-US" sz="1800" dirty="0"/>
              <a:t> -&gt; used in the statistics</a:t>
            </a: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a:xfrm>
            <a:off x="9317852" y="6312830"/>
            <a:ext cx="2743200" cy="365125"/>
          </a:xfrm>
        </p:spPr>
        <p:txBody>
          <a:bodyPr/>
          <a:lstStyle/>
          <a:p>
            <a:fld id="{5368CAA0-23FB-4232-908B-CB576EB202C9}" type="slidenum">
              <a:rPr lang="de-CH" smtClean="0"/>
              <a:t>4</a:t>
            </a:fld>
            <a:endParaRPr lang="de-CH" dirty="0"/>
          </a:p>
        </p:txBody>
      </p:sp>
      <p:pic>
        <p:nvPicPr>
          <p:cNvPr id="7" name="Image 6">
            <a:extLst>
              <a:ext uri="{FF2B5EF4-FFF2-40B4-BE49-F238E27FC236}">
                <a16:creationId xmlns:a16="http://schemas.microsoft.com/office/drawing/2014/main" id="{031CB05A-C7C0-DD94-2B82-C78C10212B6E}"/>
              </a:ext>
            </a:extLst>
          </p:cNvPr>
          <p:cNvPicPr>
            <a:picLocks noChangeAspect="1"/>
          </p:cNvPicPr>
          <p:nvPr/>
        </p:nvPicPr>
        <p:blipFill>
          <a:blip r:embed="rId3"/>
          <a:stretch>
            <a:fillRect/>
          </a:stretch>
        </p:blipFill>
        <p:spPr>
          <a:xfrm>
            <a:off x="6096000" y="1191651"/>
            <a:ext cx="5534128" cy="1646354"/>
          </a:xfrm>
          <a:prstGeom prst="rect">
            <a:avLst/>
          </a:prstGeom>
        </p:spPr>
      </p:pic>
      <p:pic>
        <p:nvPicPr>
          <p:cNvPr id="3" name="Image 2">
            <a:extLst>
              <a:ext uri="{FF2B5EF4-FFF2-40B4-BE49-F238E27FC236}">
                <a16:creationId xmlns:a16="http://schemas.microsoft.com/office/drawing/2014/main" id="{1F001E29-ED4A-B0F2-6E1F-EABCF8820DE3}"/>
              </a:ext>
            </a:extLst>
          </p:cNvPr>
          <p:cNvPicPr>
            <a:picLocks noChangeAspect="1"/>
          </p:cNvPicPr>
          <p:nvPr/>
        </p:nvPicPr>
        <p:blipFill>
          <a:blip r:embed="rId4"/>
          <a:stretch>
            <a:fillRect/>
          </a:stretch>
        </p:blipFill>
        <p:spPr>
          <a:xfrm>
            <a:off x="6286901" y="2944155"/>
            <a:ext cx="5267325" cy="3733800"/>
          </a:xfrm>
          <a:prstGeom prst="rect">
            <a:avLst/>
          </a:prstGeom>
        </p:spPr>
      </p:pic>
    </p:spTree>
    <p:extLst>
      <p:ext uri="{BB962C8B-B14F-4D97-AF65-F5344CB8AC3E}">
        <p14:creationId xmlns:p14="http://schemas.microsoft.com/office/powerpoint/2010/main" val="3867871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Data: 9 causes of deaths</a:t>
            </a:r>
            <a:endParaRPr lang="de-CH" sz="4000" dirty="0">
              <a:cs typeface="Courier New" panose="02070309020205020404" pitchFamily="49" charset="0"/>
            </a:endParaRP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5</a:t>
            </a:fld>
            <a:endParaRPr lang="de-CH"/>
          </a:p>
        </p:txBody>
      </p:sp>
      <p:pic>
        <p:nvPicPr>
          <p:cNvPr id="3" name="Image 2">
            <a:extLst>
              <a:ext uri="{FF2B5EF4-FFF2-40B4-BE49-F238E27FC236}">
                <a16:creationId xmlns:a16="http://schemas.microsoft.com/office/drawing/2014/main" id="{2F9ECB05-C40E-9D55-56EC-74632F443FEE}"/>
              </a:ext>
            </a:extLst>
          </p:cNvPr>
          <p:cNvPicPr>
            <a:picLocks noChangeAspect="1"/>
          </p:cNvPicPr>
          <p:nvPr/>
        </p:nvPicPr>
        <p:blipFill>
          <a:blip r:embed="rId3"/>
          <a:stretch>
            <a:fillRect/>
          </a:stretch>
        </p:blipFill>
        <p:spPr>
          <a:xfrm>
            <a:off x="5206085" y="1202076"/>
            <a:ext cx="6576889" cy="5045672"/>
          </a:xfrm>
          <a:prstGeom prst="rect">
            <a:avLst/>
          </a:prstGeom>
        </p:spPr>
      </p:pic>
      <p:sp>
        <p:nvSpPr>
          <p:cNvPr id="6" name="Content Placeholder 2">
            <a:extLst>
              <a:ext uri="{FF2B5EF4-FFF2-40B4-BE49-F238E27FC236}">
                <a16:creationId xmlns:a16="http://schemas.microsoft.com/office/drawing/2014/main" id="{E7CDF49A-F279-3059-7CC7-312F7E17019F}"/>
              </a:ext>
            </a:extLst>
          </p:cNvPr>
          <p:cNvSpPr txBox="1">
            <a:spLocks/>
          </p:cNvSpPr>
          <p:nvPr/>
        </p:nvSpPr>
        <p:spPr>
          <a:xfrm>
            <a:off x="480119" y="1469428"/>
            <a:ext cx="4102155" cy="5025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Primary vs principal cause of deaths</a:t>
            </a:r>
          </a:p>
          <a:p>
            <a:pPr lvl="1"/>
            <a:r>
              <a:rPr lang="en-US" sz="1800" dirty="0"/>
              <a:t>identical for &gt;95% of deaths</a:t>
            </a:r>
          </a:p>
          <a:p>
            <a:r>
              <a:rPr lang="en-US" sz="1800" dirty="0"/>
              <a:t>5 age groups</a:t>
            </a:r>
          </a:p>
          <a:p>
            <a:pPr lvl="1"/>
            <a:r>
              <a:rPr lang="en-US" sz="1800" dirty="0"/>
              <a:t>0-17, 18-39, 40-64, 65-79, 80+</a:t>
            </a:r>
          </a:p>
          <a:p>
            <a:r>
              <a:rPr lang="en-US" sz="1800" dirty="0"/>
              <a:t>Aggregated by cause, age group, sex, NUTS-2 region and week</a:t>
            </a:r>
          </a:p>
          <a:p>
            <a:pPr marL="0" indent="0">
              <a:buFont typeface="Arial" panose="020B0604020202020204" pitchFamily="34" charset="0"/>
              <a:buNone/>
            </a:pPr>
            <a:endParaRPr lang="en-US" sz="1800" dirty="0"/>
          </a:p>
        </p:txBody>
      </p:sp>
    </p:spTree>
    <p:extLst>
      <p:ext uri="{BB962C8B-B14F-4D97-AF65-F5344CB8AC3E}">
        <p14:creationId xmlns:p14="http://schemas.microsoft.com/office/powerpoint/2010/main" val="2821743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Data: mortality by age and cause</a:t>
            </a:r>
            <a:endParaRPr lang="de-CH" sz="4000" dirty="0">
              <a:cs typeface="Courier New" panose="02070309020205020404" pitchFamily="49" charset="0"/>
            </a:endParaRP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6</a:t>
            </a:fld>
            <a:endParaRPr lang="de-CH"/>
          </a:p>
        </p:txBody>
      </p:sp>
      <p:pic>
        <p:nvPicPr>
          <p:cNvPr id="10" name="Image 9">
            <a:extLst>
              <a:ext uri="{FF2B5EF4-FFF2-40B4-BE49-F238E27FC236}">
                <a16:creationId xmlns:a16="http://schemas.microsoft.com/office/drawing/2014/main" id="{72333F04-9ABB-2F12-CE7F-471428DE49DC}"/>
              </a:ext>
            </a:extLst>
          </p:cNvPr>
          <p:cNvPicPr>
            <a:picLocks noChangeAspect="1"/>
          </p:cNvPicPr>
          <p:nvPr/>
        </p:nvPicPr>
        <p:blipFill>
          <a:blip r:embed="rId3"/>
          <a:stretch>
            <a:fillRect/>
          </a:stretch>
        </p:blipFill>
        <p:spPr>
          <a:xfrm>
            <a:off x="5410109" y="2038661"/>
            <a:ext cx="6301772" cy="4424855"/>
          </a:xfrm>
          <a:prstGeom prst="rect">
            <a:avLst/>
          </a:prstGeom>
        </p:spPr>
      </p:pic>
      <p:sp>
        <p:nvSpPr>
          <p:cNvPr id="13" name="Content Placeholder 2">
            <a:extLst>
              <a:ext uri="{FF2B5EF4-FFF2-40B4-BE49-F238E27FC236}">
                <a16:creationId xmlns:a16="http://schemas.microsoft.com/office/drawing/2014/main" id="{F5BCCACB-54F0-76E3-F3BB-E6A3615CBFC2}"/>
              </a:ext>
            </a:extLst>
          </p:cNvPr>
          <p:cNvSpPr txBox="1">
            <a:spLocks/>
          </p:cNvSpPr>
          <p:nvPr/>
        </p:nvSpPr>
        <p:spPr>
          <a:xfrm>
            <a:off x="480119" y="1469428"/>
            <a:ext cx="4102155" cy="5025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Primary vs principal cause of deaths</a:t>
            </a:r>
          </a:p>
          <a:p>
            <a:pPr lvl="1"/>
            <a:r>
              <a:rPr lang="en-US" sz="1800" dirty="0"/>
              <a:t>identical for &gt;95% of deaths</a:t>
            </a:r>
          </a:p>
          <a:p>
            <a:r>
              <a:rPr lang="en-US" sz="1800" dirty="0"/>
              <a:t>5 age groups</a:t>
            </a:r>
          </a:p>
          <a:p>
            <a:pPr lvl="1"/>
            <a:r>
              <a:rPr lang="en-US" sz="1800" dirty="0"/>
              <a:t>0-17, 18-39, 40-64, 65-79, 80+</a:t>
            </a:r>
          </a:p>
          <a:p>
            <a:r>
              <a:rPr lang="en-US" sz="1800" dirty="0"/>
              <a:t>Aggregated by cause, age group, sex, NUTS-2 region and week</a:t>
            </a:r>
          </a:p>
          <a:p>
            <a:pPr marL="0" indent="0">
              <a:buFont typeface="Arial" panose="020B0604020202020204" pitchFamily="34" charset="0"/>
              <a:buNone/>
            </a:pPr>
            <a:endParaRPr lang="en-US" sz="1800" dirty="0"/>
          </a:p>
        </p:txBody>
      </p:sp>
      <p:sp>
        <p:nvSpPr>
          <p:cNvPr id="14" name="Content Placeholder 2">
            <a:extLst>
              <a:ext uri="{FF2B5EF4-FFF2-40B4-BE49-F238E27FC236}">
                <a16:creationId xmlns:a16="http://schemas.microsoft.com/office/drawing/2014/main" id="{D8611CF7-4538-86BF-E26F-C625696D40BB}"/>
              </a:ext>
            </a:extLst>
          </p:cNvPr>
          <p:cNvSpPr txBox="1">
            <a:spLocks/>
          </p:cNvSpPr>
          <p:nvPr/>
        </p:nvSpPr>
        <p:spPr>
          <a:xfrm>
            <a:off x="5880045" y="1601891"/>
            <a:ext cx="4102155" cy="436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t>Deaths in 2020</a:t>
            </a:r>
          </a:p>
        </p:txBody>
      </p:sp>
    </p:spTree>
    <p:extLst>
      <p:ext uri="{BB962C8B-B14F-4D97-AF65-F5344CB8AC3E}">
        <p14:creationId xmlns:p14="http://schemas.microsoft.com/office/powerpoint/2010/main" val="400000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Data: mortality over time</a:t>
            </a:r>
            <a:endParaRPr lang="de-CH" sz="4000" dirty="0">
              <a:cs typeface="Courier New" panose="02070309020205020404" pitchFamily="49" charset="0"/>
            </a:endParaRPr>
          </a:p>
        </p:txBody>
      </p:sp>
      <p:pic>
        <p:nvPicPr>
          <p:cNvPr id="3" name="Image 2">
            <a:extLst>
              <a:ext uri="{FF2B5EF4-FFF2-40B4-BE49-F238E27FC236}">
                <a16:creationId xmlns:a16="http://schemas.microsoft.com/office/drawing/2014/main" id="{DC511821-070E-8D7D-F907-7F08AB6BDF8B}"/>
              </a:ext>
            </a:extLst>
          </p:cNvPr>
          <p:cNvPicPr>
            <a:picLocks noChangeAspect="1"/>
          </p:cNvPicPr>
          <p:nvPr/>
        </p:nvPicPr>
        <p:blipFill>
          <a:blip r:embed="rId3"/>
          <a:stretch>
            <a:fillRect/>
          </a:stretch>
        </p:blipFill>
        <p:spPr>
          <a:xfrm>
            <a:off x="4469258" y="1310012"/>
            <a:ext cx="7447192" cy="5205088"/>
          </a:xfrm>
          <a:prstGeom prst="rect">
            <a:avLst/>
          </a:prstGeom>
        </p:spPr>
      </p:pic>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7</a:t>
            </a:fld>
            <a:endParaRPr lang="de-CH" dirty="0"/>
          </a:p>
        </p:txBody>
      </p:sp>
      <p:sp>
        <p:nvSpPr>
          <p:cNvPr id="9" name="Content Placeholder 2">
            <a:extLst>
              <a:ext uri="{FF2B5EF4-FFF2-40B4-BE49-F238E27FC236}">
                <a16:creationId xmlns:a16="http://schemas.microsoft.com/office/drawing/2014/main" id="{4D0BEBF6-E382-D289-C158-FAF453862DB2}"/>
              </a:ext>
            </a:extLst>
          </p:cNvPr>
          <p:cNvSpPr txBox="1">
            <a:spLocks/>
          </p:cNvSpPr>
          <p:nvPr/>
        </p:nvSpPr>
        <p:spPr>
          <a:xfrm>
            <a:off x="480119" y="1469428"/>
            <a:ext cx="3989139" cy="5025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Primary vs principal cause of deaths</a:t>
            </a:r>
          </a:p>
          <a:p>
            <a:pPr lvl="1"/>
            <a:r>
              <a:rPr lang="en-US" sz="1800" dirty="0"/>
              <a:t>identical for &gt;95% of deaths</a:t>
            </a:r>
          </a:p>
          <a:p>
            <a:r>
              <a:rPr lang="en-US" sz="1800" dirty="0"/>
              <a:t>5 age groups</a:t>
            </a:r>
          </a:p>
          <a:p>
            <a:pPr lvl="1"/>
            <a:r>
              <a:rPr lang="en-US" sz="1800" dirty="0"/>
              <a:t>0-17, 18-39, 40-64, 65-79, 80+</a:t>
            </a:r>
          </a:p>
          <a:p>
            <a:r>
              <a:rPr lang="en-US" sz="1800" dirty="0"/>
              <a:t>Aggregated by cause, age group, sex, NUTS-2 region and week</a:t>
            </a:r>
          </a:p>
          <a:p>
            <a:pPr lvl="1"/>
            <a:r>
              <a:rPr lang="en-US" sz="1800" dirty="0"/>
              <a:t>Seasonal patterns</a:t>
            </a:r>
          </a:p>
          <a:p>
            <a:pPr lvl="1"/>
            <a:r>
              <a:rPr lang="en-US" sz="1800" dirty="0"/>
              <a:t>Long-term trend</a:t>
            </a:r>
          </a:p>
          <a:p>
            <a:pPr lvl="1"/>
            <a:r>
              <a:rPr lang="en-US" sz="1800" dirty="0"/>
              <a:t>Similar fluctuations between causes</a:t>
            </a:r>
          </a:p>
          <a:p>
            <a:r>
              <a:rPr lang="en-US" sz="1800" dirty="0"/>
              <a:t>Quantify expected mortality using weekly mortality data from 2011-2019</a:t>
            </a:r>
          </a:p>
          <a:p>
            <a:pPr lvl="1"/>
            <a:endParaRPr lang="en-US" sz="1400" dirty="0"/>
          </a:p>
          <a:p>
            <a:pPr marL="0" indent="0">
              <a:buFont typeface="Arial" panose="020B0604020202020204" pitchFamily="34" charset="0"/>
              <a:buNone/>
            </a:pPr>
            <a:endParaRPr lang="en-US" sz="1800" dirty="0"/>
          </a:p>
        </p:txBody>
      </p:sp>
    </p:spTree>
    <p:extLst>
      <p:ext uri="{BB962C8B-B14F-4D97-AF65-F5344CB8AC3E}">
        <p14:creationId xmlns:p14="http://schemas.microsoft.com/office/powerpoint/2010/main" val="144526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Model</a:t>
            </a:r>
            <a:endParaRPr lang="de-CH" sz="4000" dirty="0">
              <a:cs typeface="Courier New" panose="02070309020205020404" pitchFamily="49" charset="0"/>
            </a:endParaRP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8" y="1469428"/>
                <a:ext cx="10377067" cy="5045672"/>
              </a:xfrm>
            </p:spPr>
            <p:txBody>
              <a:bodyPr>
                <a:normAutofit/>
              </a:bodyPr>
              <a:lstStyle/>
              <a:p>
                <a:pPr marL="0" indent="0">
                  <a:buNone/>
                </a:pPr>
                <a:r>
                  <a:rPr lang="en-US" sz="1800" b="1" dirty="0"/>
                  <a:t>Expected mortality</a:t>
                </a:r>
              </a:p>
              <a:p>
                <a:pPr marL="0" indent="0">
                  <a:buNone/>
                </a:pPr>
                <a:r>
                  <a:rPr lang="en-US" sz="1800" dirty="0"/>
                  <a:t>Number of deaths due to cause </a:t>
                </a:r>
                <a14:m>
                  <m:oMath xmlns:m="http://schemas.openxmlformats.org/officeDocument/2006/math">
                    <m:r>
                      <a:rPr lang="fr-CH" sz="1800" b="0" i="1" smtClean="0">
                        <a:latin typeface="Cambria Math" panose="02040503050406030204" pitchFamily="18" charset="0"/>
                      </a:rPr>
                      <m:t>𝑖</m:t>
                    </m:r>
                  </m:oMath>
                </a14:m>
                <a:r>
                  <a:rPr lang="en-US" sz="1800" dirty="0"/>
                  <a:t> at week </a:t>
                </a:r>
                <a14:m>
                  <m:oMath xmlns:m="http://schemas.openxmlformats.org/officeDocument/2006/math">
                    <m:r>
                      <a:rPr lang="fr-CH" sz="1800" b="0" i="1" smtClean="0">
                        <a:latin typeface="Cambria Math" panose="02040503050406030204" pitchFamily="18" charset="0"/>
                      </a:rPr>
                      <m:t>𝑡</m:t>
                    </m:r>
                  </m:oMath>
                </a14:m>
                <a:r>
                  <a:rPr lang="en-US" sz="1800" dirty="0"/>
                  <a:t> in region </a:t>
                </a:r>
                <a14:m>
                  <m:oMath xmlns:m="http://schemas.openxmlformats.org/officeDocument/2006/math">
                    <m:r>
                      <a:rPr lang="fr-CH" sz="1800" b="0" i="1" smtClean="0">
                        <a:latin typeface="Cambria Math" panose="02040503050406030204" pitchFamily="18" charset="0"/>
                      </a:rPr>
                      <m:t>𝑟</m:t>
                    </m:r>
                  </m:oMath>
                </a14:m>
                <a:r>
                  <a:rPr lang="en-US" sz="1800" dirty="0"/>
                  <a:t> for sex </a:t>
                </a:r>
                <a14:m>
                  <m:oMath xmlns:m="http://schemas.openxmlformats.org/officeDocument/2006/math">
                    <m:r>
                      <a:rPr lang="fr-CH" sz="1800" b="0" i="1" smtClean="0">
                        <a:latin typeface="Cambria Math" panose="02040503050406030204" pitchFamily="18" charset="0"/>
                      </a:rPr>
                      <m:t>𝑠</m:t>
                    </m:r>
                  </m:oMath>
                </a14:m>
                <a:r>
                  <a:rPr lang="fr-CH" sz="1800" b="0" dirty="0"/>
                  <a:t> (and for a </a:t>
                </a:r>
                <a:r>
                  <a:rPr lang="fr-CH" sz="1800" b="0" dirty="0" err="1"/>
                  <a:t>given</a:t>
                </a:r>
                <a:r>
                  <a:rPr lang="fr-CH" sz="1800" b="0" dirty="0"/>
                  <a:t> </a:t>
                </a:r>
                <a:r>
                  <a:rPr lang="fr-CH" sz="1800" b="0" dirty="0" err="1"/>
                  <a:t>age</a:t>
                </a:r>
                <a:r>
                  <a:rPr lang="fr-CH" sz="1800" b="0" dirty="0"/>
                  <a:t> group)</a:t>
                </a:r>
              </a:p>
              <a:p>
                <a:pPr marL="0" indent="0">
                  <a:buNone/>
                </a:pPr>
                <a:endParaRPr lang="en-US" sz="800" dirty="0"/>
              </a:p>
              <a:p>
                <a:pPr marL="0" indent="0">
                  <a:buNone/>
                </a:pPr>
                <a14:m>
                  <m:oMathPara xmlns:m="http://schemas.openxmlformats.org/officeDocument/2006/math">
                    <m:oMathParaPr>
                      <m:jc m:val="centerGroup"/>
                    </m:oMathParaPr>
                    <m:oMath xmlns:m="http://schemas.openxmlformats.org/officeDocument/2006/math">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𝐷</m:t>
                          </m:r>
                        </m:e>
                        <m:sub>
                          <m:r>
                            <a:rPr lang="fr-CH" sz="1800" b="0" i="1" smtClean="0">
                              <a:latin typeface="Cambria Math" panose="02040503050406030204" pitchFamily="18" charset="0"/>
                            </a:rPr>
                            <m:t>𝑖𝑟𝑠𝑡</m:t>
                          </m:r>
                        </m:sub>
                      </m:sSub>
                      <m:r>
                        <a:rPr lang="fr-CH" sz="1800" b="0" i="1" smtClean="0">
                          <a:latin typeface="Cambria Math" panose="02040503050406030204" pitchFamily="18" charset="0"/>
                        </a:rPr>
                        <m:t>∼</m:t>
                      </m:r>
                      <m:r>
                        <m:rPr>
                          <m:sty m:val="p"/>
                        </m:rPr>
                        <a:rPr lang="fr-CH" sz="1800" b="0" i="0" smtClean="0">
                          <a:latin typeface="Cambria Math" panose="02040503050406030204" pitchFamily="18" charset="0"/>
                        </a:rPr>
                        <m:t>Poisson</m:t>
                      </m:r>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𝜆</m:t>
                          </m:r>
                        </m:e>
                        <m:sub>
                          <m:r>
                            <a:rPr lang="fr-CH" sz="1800" b="0" i="1" smtClean="0">
                              <a:latin typeface="Cambria Math" panose="02040503050406030204" pitchFamily="18" charset="0"/>
                            </a:rPr>
                            <m:t>𝑖𝑟𝑠</m:t>
                          </m:r>
                        </m:sub>
                      </m:sSub>
                      <m:d>
                        <m:dPr>
                          <m:ctrlPr>
                            <a:rPr lang="fr-CH" sz="1800" b="0" i="1" smtClean="0">
                              <a:latin typeface="Cambria Math" panose="02040503050406030204" pitchFamily="18" charset="0"/>
                            </a:rPr>
                          </m:ctrlPr>
                        </m:dPr>
                        <m:e>
                          <m:r>
                            <a:rPr lang="fr-CH" sz="1800" b="0" i="1" smtClean="0">
                              <a:latin typeface="Cambria Math" panose="02040503050406030204" pitchFamily="18" charset="0"/>
                            </a:rPr>
                            <m:t>𝑡</m:t>
                          </m:r>
                        </m:e>
                      </m:d>
                      <m:r>
                        <a:rPr lang="fr-CH" sz="1800" b="0" i="1" smtClean="0">
                          <a:latin typeface="Cambria Math" panose="02040503050406030204" pitchFamily="18" charset="0"/>
                        </a:rPr>
                        <m:t>)</m:t>
                      </m:r>
                    </m:oMath>
                  </m:oMathPara>
                </a14:m>
                <a:endParaRPr lang="en-US" sz="1800" dirty="0"/>
              </a:p>
              <a:p>
                <a:pPr marL="0" indent="0">
                  <a:buNone/>
                </a:pPr>
                <a:r>
                  <a:rPr lang="en-US" sz="1800" dirty="0"/>
                  <a:t>where</a:t>
                </a:r>
              </a:p>
              <a:p>
                <a:pPr marL="457200" lvl="1" indent="0">
                  <a:buNone/>
                </a:pPr>
                <a14:m>
                  <m:oMathPara xmlns:m="http://schemas.openxmlformats.org/officeDocument/2006/math">
                    <m:oMathParaPr>
                      <m:jc m:val="centerGroup"/>
                    </m:oMathParaPr>
                    <m:oMath xmlns:m="http://schemas.openxmlformats.org/officeDocument/2006/math">
                      <m:func>
                        <m:funcPr>
                          <m:ctrlPr>
                            <a:rPr lang="fr-CH" sz="1800" i="1">
                              <a:latin typeface="Cambria Math" panose="02040503050406030204" pitchFamily="18" charset="0"/>
                            </a:rPr>
                          </m:ctrlPr>
                        </m:funcPr>
                        <m:fName>
                          <m:r>
                            <m:rPr>
                              <m:sty m:val="p"/>
                            </m:rPr>
                            <a:rPr lang="fr-CH" sz="1800">
                              <a:latin typeface="Cambria Math" panose="02040503050406030204" pitchFamily="18" charset="0"/>
                            </a:rPr>
                            <m:t>log</m:t>
                          </m:r>
                        </m:fName>
                        <m:e>
                          <m:sSub>
                            <m:sSubPr>
                              <m:ctrlPr>
                                <a:rPr lang="fr-CH" sz="1800" i="1">
                                  <a:latin typeface="Cambria Math" panose="02040503050406030204" pitchFamily="18" charset="0"/>
                                </a:rPr>
                              </m:ctrlPr>
                            </m:sSubPr>
                            <m:e>
                              <m:r>
                                <a:rPr lang="fr-CH" sz="1800" i="1">
                                  <a:latin typeface="Cambria Math" panose="02040503050406030204" pitchFamily="18" charset="0"/>
                                </a:rPr>
                                <m:t>𝜆</m:t>
                              </m:r>
                            </m:e>
                            <m:sub>
                              <m:r>
                                <a:rPr lang="fr-CH" sz="1800" b="0" i="1" smtClean="0">
                                  <a:latin typeface="Cambria Math" panose="02040503050406030204" pitchFamily="18" charset="0"/>
                                </a:rPr>
                                <m:t> </m:t>
                              </m:r>
                              <m:r>
                                <a:rPr lang="fr-CH" sz="1800" b="0" i="1" smtClean="0">
                                  <a:latin typeface="Cambria Math" panose="02040503050406030204" pitchFamily="18" charset="0"/>
                                </a:rPr>
                                <m:t>𝑖𝑟𝑠</m:t>
                              </m:r>
                            </m:sub>
                          </m:sSub>
                          <m:r>
                            <a:rPr lang="fr-CH" sz="1800" b="0" i="1" smtClean="0">
                              <a:latin typeface="Cambria Math" panose="02040503050406030204" pitchFamily="18" charset="0"/>
                            </a:rPr>
                            <m:t>(</m:t>
                          </m:r>
                          <m:r>
                            <a:rPr lang="fr-CH" sz="1800" b="0" i="1" smtClean="0">
                              <a:latin typeface="Cambria Math" panose="02040503050406030204" pitchFamily="18" charset="0"/>
                            </a:rPr>
                            <m:t>𝑡</m:t>
                          </m:r>
                          <m:r>
                            <a:rPr lang="fr-CH" sz="1800" b="0" i="1" smtClean="0">
                              <a:latin typeface="Cambria Math" panose="02040503050406030204" pitchFamily="18" charset="0"/>
                            </a:rPr>
                            <m:t>)</m:t>
                          </m:r>
                        </m:e>
                      </m:func>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𝛼</m:t>
                          </m:r>
                        </m:e>
                        <m:sub>
                          <m:r>
                            <a:rPr lang="fr-CH" sz="1800" b="0" i="1" smtClean="0">
                              <a:latin typeface="Cambria Math" panose="02040503050406030204" pitchFamily="18" charset="0"/>
                            </a:rPr>
                            <m:t>𝑖</m:t>
                          </m:r>
                        </m:sub>
                      </m:sSub>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𝛽</m:t>
                          </m:r>
                        </m:e>
                        <m:sub>
                          <m:r>
                            <a:rPr lang="fr-CH" sz="1800" b="0" i="1" smtClean="0">
                              <a:latin typeface="Cambria Math" panose="02040503050406030204" pitchFamily="18" charset="0"/>
                            </a:rPr>
                            <m:t>𝑖𝑟</m:t>
                          </m:r>
                        </m:sub>
                      </m:sSub>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𝛾</m:t>
                          </m:r>
                        </m:e>
                        <m:sub>
                          <m:r>
                            <a:rPr lang="fr-CH" sz="1800" b="0" i="1" smtClean="0">
                              <a:latin typeface="Cambria Math" panose="02040503050406030204" pitchFamily="18" charset="0"/>
                            </a:rPr>
                            <m:t>𝑖𝑠</m:t>
                          </m:r>
                        </m:sub>
                      </m:sSub>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𝑓</m:t>
                          </m:r>
                        </m:e>
                        <m:sub>
                          <m:r>
                            <a:rPr lang="fr-CH" sz="1800" b="0" i="1" smtClean="0">
                              <a:latin typeface="Cambria Math" panose="02040503050406030204" pitchFamily="18" charset="0"/>
                            </a:rPr>
                            <m:t>𝑖</m:t>
                          </m:r>
                        </m:sub>
                      </m:sSub>
                      <m:d>
                        <m:dPr>
                          <m:ctrlPr>
                            <a:rPr lang="fr-CH" sz="1800" b="0" i="1" smtClean="0">
                              <a:latin typeface="Cambria Math" panose="02040503050406030204" pitchFamily="18" charset="0"/>
                            </a:rPr>
                          </m:ctrlPr>
                        </m:dPr>
                        <m:e>
                          <m:r>
                            <a:rPr lang="fr-CH" sz="1800" b="0" i="1" smtClean="0">
                              <a:latin typeface="Cambria Math" panose="02040503050406030204" pitchFamily="18" charset="0"/>
                            </a:rPr>
                            <m:t>𝑡</m:t>
                          </m:r>
                        </m:e>
                      </m:d>
                      <m:r>
                        <a:rPr lang="fr-CH" sz="1800" b="0" i="1" smtClean="0">
                          <a:latin typeface="Cambria Math" panose="02040503050406030204" pitchFamily="18" charset="0"/>
                        </a:rPr>
                        <m:t>+</m:t>
                      </m:r>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𝑔</m:t>
                          </m:r>
                        </m:e>
                        <m:sub>
                          <m:r>
                            <a:rPr lang="fr-CH" sz="1800" b="0" i="1" smtClean="0">
                              <a:latin typeface="Cambria Math" panose="02040503050406030204" pitchFamily="18" charset="0"/>
                            </a:rPr>
                            <m:t>𝑖</m:t>
                          </m:r>
                        </m:sub>
                      </m:sSub>
                      <m:d>
                        <m:dPr>
                          <m:ctrlPr>
                            <a:rPr lang="fr-CH" sz="1800" b="0" i="1" smtClean="0">
                              <a:latin typeface="Cambria Math" panose="02040503050406030204" pitchFamily="18" charset="0"/>
                            </a:rPr>
                          </m:ctrlPr>
                        </m:dPr>
                        <m:e>
                          <m:r>
                            <a:rPr lang="fr-CH" sz="1800" b="0" i="1" smtClean="0">
                              <a:latin typeface="Cambria Math" panose="02040503050406030204" pitchFamily="18" charset="0"/>
                            </a:rPr>
                            <m:t>𝑡</m:t>
                          </m:r>
                        </m:e>
                      </m:d>
                      <m:r>
                        <a:rPr lang="fr-CH" sz="1800" b="0" i="1" smtClean="0">
                          <a:latin typeface="Cambria Math" panose="02040503050406030204" pitchFamily="18" charset="0"/>
                        </a:rPr>
                        <m:t>+</m:t>
                      </m:r>
                      <m:sSub>
                        <m:sSubPr>
                          <m:ctrlPr>
                            <a:rPr lang="fr-CH" sz="1800" i="1">
                              <a:latin typeface="Cambria Math" panose="02040503050406030204" pitchFamily="18" charset="0"/>
                            </a:rPr>
                          </m:ctrlPr>
                        </m:sSubPr>
                        <m:e>
                          <m:r>
                            <a:rPr lang="fr-CH" sz="1800" i="1">
                              <a:latin typeface="Cambria Math" panose="02040503050406030204" pitchFamily="18" charset="0"/>
                            </a:rPr>
                            <m:t>𝜖</m:t>
                          </m:r>
                        </m:e>
                        <m:sub>
                          <m:r>
                            <a:rPr lang="fr-CH" sz="1800" i="1">
                              <a:latin typeface="Cambria Math" panose="02040503050406030204" pitchFamily="18" charset="0"/>
                            </a:rPr>
                            <m:t>𝑖</m:t>
                          </m:r>
                        </m:sub>
                      </m:sSub>
                      <m:r>
                        <a:rPr lang="fr-CH" sz="1800" i="1">
                          <a:latin typeface="Cambria Math" panose="02040503050406030204" pitchFamily="18" charset="0"/>
                        </a:rPr>
                        <m:t>+</m:t>
                      </m:r>
                      <m:func>
                        <m:funcPr>
                          <m:ctrlPr>
                            <a:rPr lang="fr-CH" sz="1800" b="0" i="1" smtClean="0">
                              <a:latin typeface="Cambria Math" panose="02040503050406030204" pitchFamily="18" charset="0"/>
                            </a:rPr>
                          </m:ctrlPr>
                        </m:funcPr>
                        <m:fName>
                          <m:r>
                            <m:rPr>
                              <m:sty m:val="p"/>
                            </m:rPr>
                            <a:rPr lang="fr-CH" sz="1800" b="0" i="0" smtClean="0">
                              <a:latin typeface="Cambria Math" panose="02040503050406030204" pitchFamily="18" charset="0"/>
                            </a:rPr>
                            <m:t>log</m:t>
                          </m:r>
                        </m:fName>
                        <m:e>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𝑃</m:t>
                              </m:r>
                            </m:e>
                            <m:sub>
                              <m:r>
                                <a:rPr lang="fr-CH" sz="1800" b="0" i="1" smtClean="0">
                                  <a:latin typeface="Cambria Math" panose="02040503050406030204" pitchFamily="18" charset="0"/>
                                </a:rPr>
                                <m:t>𝑖𝑟𝑠𝑡</m:t>
                              </m:r>
                            </m:sub>
                          </m:sSub>
                        </m:e>
                      </m:func>
                    </m:oMath>
                  </m:oMathPara>
                </a14:m>
                <a:endParaRPr lang="en-US" sz="1800" dirty="0"/>
              </a:p>
              <a:p>
                <a:pPr marL="457200" lvl="1" indent="0">
                  <a:buNone/>
                </a:pPr>
                <a:endParaRPr lang="en-US" sz="800" dirty="0"/>
              </a:p>
              <a:p>
                <a:pPr lvl="1"/>
                <a14:m>
                  <m:oMath xmlns:m="http://schemas.openxmlformats.org/officeDocument/2006/math">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𝛼</m:t>
                        </m:r>
                      </m:e>
                      <m:sub>
                        <m:r>
                          <a:rPr lang="fr-CH" sz="1800" b="0" i="1" smtClean="0">
                            <a:latin typeface="Cambria Math" panose="02040503050406030204" pitchFamily="18" charset="0"/>
                          </a:rPr>
                          <m:t>𝑖</m:t>
                        </m:r>
                      </m:sub>
                    </m:sSub>
                  </m:oMath>
                </a14:m>
                <a:r>
                  <a:rPr lang="fr-CH" sz="1800" b="0" dirty="0"/>
                  <a:t>: </a:t>
                </a:r>
                <a:r>
                  <a:rPr lang="fr-CH" sz="1800" b="0" dirty="0" err="1"/>
                  <a:t>baseline</a:t>
                </a:r>
                <a:r>
                  <a:rPr lang="fr-CH" sz="1800" b="0" dirty="0"/>
                  <a:t> cause-</a:t>
                </a:r>
                <a:r>
                  <a:rPr lang="fr-CH" sz="1800" b="0" dirty="0" err="1"/>
                  <a:t>specific</a:t>
                </a:r>
                <a:r>
                  <a:rPr lang="fr-CH" sz="1800" b="0" dirty="0"/>
                  <a:t> </a:t>
                </a:r>
                <a:r>
                  <a:rPr lang="fr-CH" sz="1800" b="0" dirty="0" err="1"/>
                  <a:t>mortality</a:t>
                </a:r>
                <a:r>
                  <a:rPr lang="fr-CH" sz="1800" b="0" dirty="0"/>
                  <a:t> </a:t>
                </a:r>
                <a:r>
                  <a:rPr lang="fr-CH" sz="1800" b="0" dirty="0" err="1"/>
                  <a:t>risk</a:t>
                </a:r>
                <a:endParaRPr lang="fr-CH" sz="1800" b="0" dirty="0"/>
              </a:p>
              <a:p>
                <a:pPr lvl="1"/>
                <a14:m>
                  <m:oMath xmlns:m="http://schemas.openxmlformats.org/officeDocument/2006/math">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𝛽</m:t>
                        </m:r>
                      </m:e>
                      <m:sub>
                        <m:r>
                          <a:rPr lang="fr-CH" sz="1800" b="0" i="1" smtClean="0">
                            <a:latin typeface="Cambria Math" panose="02040503050406030204" pitchFamily="18" charset="0"/>
                          </a:rPr>
                          <m:t>𝑖𝑟</m:t>
                        </m:r>
                      </m:sub>
                    </m:sSub>
                  </m:oMath>
                </a14:m>
                <a:r>
                  <a:rPr lang="en-US" sz="1800" dirty="0"/>
                  <a:t>, </a:t>
                </a:r>
                <a14:m>
                  <m:oMath xmlns:m="http://schemas.openxmlformats.org/officeDocument/2006/math">
                    <m:sSub>
                      <m:sSubPr>
                        <m:ctrlPr>
                          <a:rPr lang="fr-CH" sz="1800" i="1">
                            <a:latin typeface="Cambria Math" panose="02040503050406030204" pitchFamily="18" charset="0"/>
                          </a:rPr>
                        </m:ctrlPr>
                      </m:sSubPr>
                      <m:e>
                        <m:r>
                          <a:rPr lang="fr-CH" sz="1800" i="1">
                            <a:latin typeface="Cambria Math" panose="02040503050406030204" pitchFamily="18" charset="0"/>
                          </a:rPr>
                          <m:t>𝛾</m:t>
                        </m:r>
                      </m:e>
                      <m:sub>
                        <m:r>
                          <a:rPr lang="fr-CH" sz="1800" b="0" i="1" smtClean="0">
                            <a:latin typeface="Cambria Math" panose="02040503050406030204" pitchFamily="18" charset="0"/>
                          </a:rPr>
                          <m:t>𝑖</m:t>
                        </m:r>
                        <m:r>
                          <a:rPr lang="fr-CH" sz="1800" i="1">
                            <a:latin typeface="Cambria Math" panose="02040503050406030204" pitchFamily="18" charset="0"/>
                          </a:rPr>
                          <m:t>𝑠</m:t>
                        </m:r>
                      </m:sub>
                    </m:sSub>
                  </m:oMath>
                </a14:m>
                <a:r>
                  <a:rPr lang="en-US" sz="1800" dirty="0"/>
                  <a:t>: effect of region and sex</a:t>
                </a:r>
              </a:p>
              <a:p>
                <a:pPr lvl="1"/>
                <a14:m>
                  <m:oMath xmlns:m="http://schemas.openxmlformats.org/officeDocument/2006/math">
                    <m:sSub>
                      <m:sSubPr>
                        <m:ctrlPr>
                          <a:rPr lang="fr-CH" sz="1800" i="1">
                            <a:latin typeface="Cambria Math" panose="02040503050406030204" pitchFamily="18" charset="0"/>
                          </a:rPr>
                        </m:ctrlPr>
                      </m:sSubPr>
                      <m:e>
                        <m:r>
                          <a:rPr lang="fr-CH" sz="1800" i="1">
                            <a:latin typeface="Cambria Math" panose="02040503050406030204" pitchFamily="18" charset="0"/>
                          </a:rPr>
                          <m:t>𝑓</m:t>
                        </m:r>
                      </m:e>
                      <m:sub>
                        <m:r>
                          <a:rPr lang="fr-CH" sz="1800" i="1">
                            <a:latin typeface="Cambria Math" panose="02040503050406030204" pitchFamily="18" charset="0"/>
                          </a:rPr>
                          <m:t>𝑖</m:t>
                        </m:r>
                      </m:sub>
                    </m:sSub>
                  </m:oMath>
                </a14:m>
                <a:r>
                  <a:rPr lang="en-US" sz="1800" dirty="0"/>
                  <a:t>: long-term change in mortality risk</a:t>
                </a:r>
              </a:p>
              <a:p>
                <a:pPr lvl="1"/>
                <a14:m>
                  <m:oMath xmlns:m="http://schemas.openxmlformats.org/officeDocument/2006/math">
                    <m:sSub>
                      <m:sSubPr>
                        <m:ctrlPr>
                          <a:rPr lang="fr-CH" sz="1800" i="1" smtClean="0">
                            <a:latin typeface="Cambria Math" panose="02040503050406030204" pitchFamily="18" charset="0"/>
                          </a:rPr>
                        </m:ctrlPr>
                      </m:sSubPr>
                      <m:e>
                        <m:r>
                          <a:rPr lang="fr-CH" sz="1800" b="0" i="1" smtClean="0">
                            <a:latin typeface="Cambria Math" panose="02040503050406030204" pitchFamily="18" charset="0"/>
                          </a:rPr>
                          <m:t>𝑔</m:t>
                        </m:r>
                      </m:e>
                      <m:sub>
                        <m:r>
                          <a:rPr lang="fr-CH" sz="1800" i="1">
                            <a:latin typeface="Cambria Math" panose="02040503050406030204" pitchFamily="18" charset="0"/>
                          </a:rPr>
                          <m:t>𝑖</m:t>
                        </m:r>
                      </m:sub>
                    </m:sSub>
                  </m:oMath>
                </a14:m>
                <a:r>
                  <a:rPr lang="en-US" sz="1800" dirty="0"/>
                  <a:t>: seasonal variation in mortality risk</a:t>
                </a:r>
              </a:p>
              <a:p>
                <a:pPr lvl="1"/>
                <a14:m>
                  <m:oMath xmlns:m="http://schemas.openxmlformats.org/officeDocument/2006/math">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𝜖</m:t>
                        </m:r>
                      </m:e>
                      <m:sub>
                        <m:r>
                          <a:rPr lang="fr-CH" sz="1800" b="0" i="1" smtClean="0">
                            <a:latin typeface="Cambria Math" panose="02040503050406030204" pitchFamily="18" charset="0"/>
                          </a:rPr>
                          <m:t>𝑖</m:t>
                        </m:r>
                      </m:sub>
                    </m:sSub>
                  </m:oMath>
                </a14:m>
                <a:r>
                  <a:rPr lang="en-US" sz="1800" dirty="0"/>
                  <a:t>: multivariate random effect, </a:t>
                </a:r>
                <a14:m>
                  <m:oMath xmlns:m="http://schemas.openxmlformats.org/officeDocument/2006/math">
                    <m:r>
                      <a:rPr lang="fr-CH" sz="1800" b="0" i="1" smtClean="0">
                        <a:latin typeface="Cambria Math" panose="02040503050406030204" pitchFamily="18" charset="0"/>
                      </a:rPr>
                      <m:t>𝜖</m:t>
                    </m:r>
                    <m:r>
                      <a:rPr lang="fr-CH" sz="1800" b="0" i="1" smtClean="0">
                        <a:latin typeface="Cambria Math" panose="02040503050406030204" pitchFamily="18" charset="0"/>
                      </a:rPr>
                      <m:t>∼</m:t>
                    </m:r>
                    <m:r>
                      <m:rPr>
                        <m:sty m:val="p"/>
                      </m:rPr>
                      <a:rPr lang="fr-CH" sz="1800" b="0" i="0" smtClean="0">
                        <a:latin typeface="Cambria Math" panose="02040503050406030204" pitchFamily="18" charset="0"/>
                      </a:rPr>
                      <m:t>Normal</m:t>
                    </m:r>
                    <m:d>
                      <m:dPr>
                        <m:ctrlPr>
                          <a:rPr lang="fr-CH" sz="1800" b="0" i="1" smtClean="0">
                            <a:latin typeface="Cambria Math" panose="02040503050406030204" pitchFamily="18" charset="0"/>
                          </a:rPr>
                        </m:ctrlPr>
                      </m:dPr>
                      <m:e>
                        <m:r>
                          <a:rPr lang="fr-CH" sz="1800" b="0" i="1" smtClean="0">
                            <a:latin typeface="Cambria Math" panose="02040503050406030204" pitchFamily="18" charset="0"/>
                          </a:rPr>
                          <m:t>0, </m:t>
                        </m:r>
                        <m:r>
                          <m:rPr>
                            <m:sty m:val="p"/>
                          </m:rPr>
                          <a:rPr lang="fr-CH" sz="1800" b="0" i="0" smtClean="0">
                            <a:latin typeface="Cambria Math" panose="02040503050406030204" pitchFamily="18" charset="0"/>
                          </a:rPr>
                          <m:t>Σ</m:t>
                        </m:r>
                      </m:e>
                    </m:d>
                  </m:oMath>
                </a14:m>
                <a:r>
                  <a:rPr lang="en-US" sz="1800" dirty="0"/>
                  <a:t>, where </a:t>
                </a:r>
                <a14:m>
                  <m:oMath xmlns:m="http://schemas.openxmlformats.org/officeDocument/2006/math">
                    <m:r>
                      <m:rPr>
                        <m:sty m:val="p"/>
                      </m:rPr>
                      <a:rPr lang="fr-CH" sz="1800">
                        <a:latin typeface="Cambria Math" panose="02040503050406030204" pitchFamily="18" charset="0"/>
                      </a:rPr>
                      <m:t>Σ</m:t>
                    </m:r>
                  </m:oMath>
                </a14:m>
                <a:r>
                  <a:rPr lang="en-US" sz="1800" dirty="0"/>
                  <a:t> denotes the correlation matrix between the causes</a:t>
                </a:r>
              </a:p>
              <a:p>
                <a:pPr lvl="1"/>
                <a14:m>
                  <m:oMath xmlns:m="http://schemas.openxmlformats.org/officeDocument/2006/math">
                    <m:sSub>
                      <m:sSubPr>
                        <m:ctrlPr>
                          <a:rPr lang="fr-CH" sz="1800" b="0" i="1" smtClean="0">
                            <a:latin typeface="Cambria Math" panose="02040503050406030204" pitchFamily="18" charset="0"/>
                          </a:rPr>
                        </m:ctrlPr>
                      </m:sSubPr>
                      <m:e>
                        <m:r>
                          <a:rPr lang="fr-CH" sz="1800" b="0" i="1" smtClean="0">
                            <a:latin typeface="Cambria Math" panose="02040503050406030204" pitchFamily="18" charset="0"/>
                          </a:rPr>
                          <m:t>𝑃</m:t>
                        </m:r>
                      </m:e>
                      <m:sub>
                        <m:r>
                          <a:rPr lang="fr-CH" sz="1800" b="0" i="1" smtClean="0">
                            <a:latin typeface="Cambria Math" panose="02040503050406030204" pitchFamily="18" charset="0"/>
                          </a:rPr>
                          <m:t>𝑖𝑟𝑠𝑡</m:t>
                        </m:r>
                      </m:sub>
                    </m:sSub>
                  </m:oMath>
                </a14:m>
                <a:r>
                  <a:rPr lang="en-US" sz="1800" dirty="0"/>
                  <a:t>: population</a:t>
                </a:r>
              </a:p>
              <a:p>
                <a:pPr marL="457200" lvl="1" indent="0">
                  <a:buNone/>
                </a:pPr>
                <a:endParaRPr lang="en-US" sz="800" dirty="0"/>
              </a:p>
              <a:p>
                <a:pPr marL="0" indent="0">
                  <a:buNone/>
                </a:pPr>
                <a:r>
                  <a:rPr lang="en-US" sz="1800" b="1" dirty="0"/>
                  <a:t>Excess mortality</a:t>
                </a:r>
                <a:endParaRPr lang="en-US" sz="1800" dirty="0"/>
              </a:p>
              <a:p>
                <a:pPr marL="0" indent="0">
                  <a:buNone/>
                </a:pPr>
                <a14:m>
                  <m:oMathPara xmlns:m="http://schemas.openxmlformats.org/officeDocument/2006/math">
                    <m:oMathParaPr>
                      <m:jc m:val="centerGroup"/>
                    </m:oMathParaPr>
                    <m:oMath xmlns:m="http://schemas.openxmlformats.org/officeDocument/2006/math">
                      <m:sSub>
                        <m:sSubPr>
                          <m:ctrlPr>
                            <a:rPr lang="fr-CH" sz="1800" i="1">
                              <a:latin typeface="Cambria Math" panose="02040503050406030204" pitchFamily="18" charset="0"/>
                            </a:rPr>
                          </m:ctrlPr>
                        </m:sSubPr>
                        <m:e>
                          <m:r>
                            <a:rPr lang="fr-CH" sz="1800" b="0" i="1" smtClean="0">
                              <a:latin typeface="Cambria Math" panose="02040503050406030204" pitchFamily="18" charset="0"/>
                            </a:rPr>
                            <m:t>𝐸</m:t>
                          </m:r>
                        </m:e>
                        <m:sub>
                          <m:r>
                            <a:rPr lang="fr-CH" sz="1800" i="1">
                              <a:latin typeface="Cambria Math" panose="02040503050406030204" pitchFamily="18" charset="0"/>
                            </a:rPr>
                            <m:t>𝑖𝑟𝑠𝑡</m:t>
                          </m:r>
                        </m:sub>
                      </m:sSub>
                      <m:r>
                        <a:rPr lang="fr-CH" sz="1800" b="0" i="1" smtClean="0">
                          <a:latin typeface="Cambria Math" panose="02040503050406030204" pitchFamily="18" charset="0"/>
                        </a:rPr>
                        <m:t>=</m:t>
                      </m:r>
                      <m:sSub>
                        <m:sSubPr>
                          <m:ctrlPr>
                            <a:rPr lang="fr-CH" sz="1800" i="1">
                              <a:latin typeface="Cambria Math" panose="02040503050406030204" pitchFamily="18" charset="0"/>
                            </a:rPr>
                          </m:ctrlPr>
                        </m:sSubPr>
                        <m:e>
                          <m:r>
                            <a:rPr lang="fr-CH" sz="1800" i="1">
                              <a:latin typeface="Cambria Math" panose="02040503050406030204" pitchFamily="18" charset="0"/>
                            </a:rPr>
                            <m:t>𝐷</m:t>
                          </m:r>
                        </m:e>
                        <m:sub>
                          <m:r>
                            <a:rPr lang="fr-CH" sz="1800" i="1">
                              <a:latin typeface="Cambria Math" panose="02040503050406030204" pitchFamily="18" charset="0"/>
                            </a:rPr>
                            <m:t>𝑖𝑟𝑠𝑡</m:t>
                          </m:r>
                        </m:sub>
                      </m:sSub>
                      <m:r>
                        <a:rPr lang="fr-CH" sz="1800" b="0" i="1" smtClean="0">
                          <a:latin typeface="Cambria Math" panose="02040503050406030204" pitchFamily="18" charset="0"/>
                        </a:rPr>
                        <m:t>−</m:t>
                      </m:r>
                      <m:sSub>
                        <m:sSubPr>
                          <m:ctrlPr>
                            <a:rPr lang="fr-CH" sz="1800" i="1">
                              <a:latin typeface="Cambria Math" panose="02040503050406030204" pitchFamily="18" charset="0"/>
                            </a:rPr>
                          </m:ctrlPr>
                        </m:sSubPr>
                        <m:e>
                          <m:r>
                            <a:rPr lang="fr-CH" sz="1800" i="1">
                              <a:latin typeface="Cambria Math" panose="02040503050406030204" pitchFamily="18" charset="0"/>
                            </a:rPr>
                            <m:t>𝜆</m:t>
                          </m:r>
                        </m:e>
                        <m:sub>
                          <m:r>
                            <a:rPr lang="fr-CH" sz="1800" i="1">
                              <a:latin typeface="Cambria Math" panose="02040503050406030204" pitchFamily="18" charset="0"/>
                            </a:rPr>
                            <m:t>𝑖𝑟𝑠</m:t>
                          </m:r>
                        </m:sub>
                      </m:sSub>
                      <m:d>
                        <m:dPr>
                          <m:ctrlPr>
                            <a:rPr lang="fr-CH" sz="1800" i="1">
                              <a:latin typeface="Cambria Math" panose="02040503050406030204" pitchFamily="18" charset="0"/>
                            </a:rPr>
                          </m:ctrlPr>
                        </m:dPr>
                        <m:e>
                          <m:r>
                            <a:rPr lang="fr-CH" sz="1800" i="1">
                              <a:latin typeface="Cambria Math" panose="02040503050406030204" pitchFamily="18" charset="0"/>
                            </a:rPr>
                            <m:t>𝑡</m:t>
                          </m:r>
                        </m:e>
                      </m:d>
                    </m:oMath>
                  </m:oMathPara>
                </a14:m>
                <a:endParaRPr lang="en-US" sz="1800" dirty="0"/>
              </a:p>
              <a:p>
                <a:pPr lvl="1"/>
                <a:endParaRPr lang="en-US" dirty="0"/>
              </a:p>
              <a:p>
                <a:pPr marL="0" indent="0">
                  <a:buNone/>
                </a:pPr>
                <a:endParaRPr lang="en-US" b="1" dirty="0"/>
              </a:p>
            </p:txBody>
          </p:sp>
        </mc:Choice>
        <mc:Fallback>
          <p:sp>
            <p:nvSpPr>
              <p:cNvPr id="5" name="Content Placeholder 2">
                <a:extLst>
                  <a:ext uri="{FF2B5EF4-FFF2-40B4-BE49-F238E27FC236}">
                    <a16:creationId xmlns:a16="http://schemas.microsoft.com/office/drawing/2014/main" id="{30F10EBE-C6CA-53EC-3548-399CE3423066}"/>
                  </a:ext>
                </a:extLst>
              </p:cNvPr>
              <p:cNvSpPr>
                <a:spLocks noGrp="1" noRot="1" noChangeAspect="1" noMove="1" noResize="1" noEditPoints="1" noAdjustHandles="1" noChangeArrowheads="1" noChangeShapeType="1" noTextEdit="1"/>
              </p:cNvSpPr>
              <p:nvPr>
                <p:ph idx="1"/>
              </p:nvPr>
            </p:nvSpPr>
            <p:spPr>
              <a:xfrm>
                <a:off x="480118" y="1469428"/>
                <a:ext cx="10377067" cy="5045672"/>
              </a:xfrm>
              <a:blipFill>
                <a:blip r:embed="rId3"/>
                <a:stretch>
                  <a:fillRect l="-529" t="-1087"/>
                </a:stretch>
              </a:blipFill>
            </p:spPr>
            <p:txBody>
              <a:bodyPr/>
              <a:lstStyle/>
              <a:p>
                <a:r>
                  <a:rPr lang="fr-CH">
                    <a:noFill/>
                  </a:rPr>
                  <a:t> </a:t>
                </a:r>
              </a:p>
            </p:txBody>
          </p:sp>
        </mc:Fallback>
      </mc:AlternateContent>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8</a:t>
            </a:fld>
            <a:endParaRPr lang="de-CH"/>
          </a:p>
        </p:txBody>
      </p:sp>
    </p:spTree>
    <p:extLst>
      <p:ext uri="{BB962C8B-B14F-4D97-AF65-F5344CB8AC3E}">
        <p14:creationId xmlns:p14="http://schemas.microsoft.com/office/powerpoint/2010/main" val="1090953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Cause-specific fit</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3485706" cy="5045672"/>
          </a:xfrm>
        </p:spPr>
        <p:txBody>
          <a:bodyPr>
            <a:normAutofit/>
          </a:bodyPr>
          <a:lstStyle/>
          <a:p>
            <a:r>
              <a:rPr lang="en-US" sz="1800" dirty="0"/>
              <a:t>Fit reproduces observed mortality in 2011-2019</a:t>
            </a:r>
          </a:p>
          <a:p>
            <a:r>
              <a:rPr lang="en-US" sz="1800" dirty="0"/>
              <a:t>Differences observed from 2020</a:t>
            </a:r>
          </a:p>
          <a:p>
            <a:pPr lvl="1"/>
            <a:r>
              <a:rPr lang="en-US" sz="1800" dirty="0"/>
              <a:t>Peak of observed mortality precedes expected mortality</a:t>
            </a:r>
          </a:p>
          <a:p>
            <a:pPr lvl="1"/>
            <a:r>
              <a:rPr lang="en-US" sz="1800" dirty="0"/>
              <a:t>Consistently lower mortality</a:t>
            </a: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a:xfrm>
            <a:off x="9189457" y="6446259"/>
            <a:ext cx="2743200" cy="365125"/>
          </a:xfrm>
        </p:spPr>
        <p:txBody>
          <a:bodyPr/>
          <a:lstStyle/>
          <a:p>
            <a:fld id="{5368CAA0-23FB-4232-908B-CB576EB202C9}" type="slidenum">
              <a:rPr lang="de-CH" smtClean="0"/>
              <a:t>9</a:t>
            </a:fld>
            <a:endParaRPr lang="de-CH"/>
          </a:p>
        </p:txBody>
      </p:sp>
      <p:pic>
        <p:nvPicPr>
          <p:cNvPr id="3" name="Image 2">
            <a:extLst>
              <a:ext uri="{FF2B5EF4-FFF2-40B4-BE49-F238E27FC236}">
                <a16:creationId xmlns:a16="http://schemas.microsoft.com/office/drawing/2014/main" id="{3D12A745-D0CF-0FF7-189E-7ED660392A16}"/>
              </a:ext>
            </a:extLst>
          </p:cNvPr>
          <p:cNvPicPr>
            <a:picLocks noChangeAspect="1"/>
          </p:cNvPicPr>
          <p:nvPr/>
        </p:nvPicPr>
        <p:blipFill>
          <a:blip r:embed="rId3"/>
          <a:stretch>
            <a:fillRect/>
          </a:stretch>
        </p:blipFill>
        <p:spPr>
          <a:xfrm>
            <a:off x="4078840" y="1199224"/>
            <a:ext cx="7853817" cy="5315876"/>
          </a:xfrm>
          <a:prstGeom prst="rect">
            <a:avLst/>
          </a:prstGeom>
        </p:spPr>
      </p:pic>
    </p:spTree>
    <p:extLst>
      <p:ext uri="{BB962C8B-B14F-4D97-AF65-F5344CB8AC3E}">
        <p14:creationId xmlns:p14="http://schemas.microsoft.com/office/powerpoint/2010/main" val="252776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Fit: all-cause mortality</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3763108" cy="5045672"/>
          </a:xfrm>
        </p:spPr>
        <p:txBody>
          <a:bodyPr>
            <a:normAutofit/>
          </a:bodyPr>
          <a:lstStyle/>
          <a:p>
            <a:r>
              <a:rPr lang="en-US" sz="1800" dirty="0"/>
              <a:t>Total mortality (aggregated over causes) by age group</a:t>
            </a:r>
          </a:p>
          <a:p>
            <a:pPr lvl="1"/>
            <a:r>
              <a:rPr lang="en-US" sz="1800" dirty="0"/>
              <a:t>Good fit before 2020 -&gt; validation</a:t>
            </a:r>
          </a:p>
          <a:p>
            <a:pPr lvl="1"/>
            <a:r>
              <a:rPr lang="en-US" sz="1800" dirty="0"/>
              <a:t>High mortality peak due to COVID-19 in fall and winter 2020-21</a:t>
            </a:r>
          </a:p>
          <a:p>
            <a:pPr marL="0" indent="0">
              <a:buNone/>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pic>
        <p:nvPicPr>
          <p:cNvPr id="3" name="Image 2">
            <a:extLst>
              <a:ext uri="{FF2B5EF4-FFF2-40B4-BE49-F238E27FC236}">
                <a16:creationId xmlns:a16="http://schemas.microsoft.com/office/drawing/2014/main" id="{6CDECE07-65E7-0318-B841-698089614747}"/>
              </a:ext>
            </a:extLst>
          </p:cNvPr>
          <p:cNvPicPr>
            <a:picLocks noChangeAspect="1"/>
          </p:cNvPicPr>
          <p:nvPr/>
        </p:nvPicPr>
        <p:blipFill>
          <a:blip r:embed="rId3"/>
          <a:stretch>
            <a:fillRect/>
          </a:stretch>
        </p:blipFill>
        <p:spPr>
          <a:xfrm>
            <a:off x="4376790" y="1259955"/>
            <a:ext cx="7549240" cy="5255145"/>
          </a:xfrm>
          <a:prstGeom prst="rect">
            <a:avLst/>
          </a:prstGeom>
        </p:spPr>
      </p:pic>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a:xfrm>
            <a:off x="8610600" y="6483677"/>
            <a:ext cx="2743200" cy="365125"/>
          </a:xfrm>
        </p:spPr>
        <p:txBody>
          <a:bodyPr/>
          <a:lstStyle/>
          <a:p>
            <a:fld id="{5368CAA0-23FB-4232-908B-CB576EB202C9}" type="slidenum">
              <a:rPr lang="de-CH" smtClean="0"/>
              <a:t>10</a:t>
            </a:fld>
            <a:endParaRPr lang="de-CH"/>
          </a:p>
        </p:txBody>
      </p:sp>
    </p:spTree>
    <p:extLst>
      <p:ext uri="{BB962C8B-B14F-4D97-AF65-F5344CB8AC3E}">
        <p14:creationId xmlns:p14="http://schemas.microsoft.com/office/powerpoint/2010/main" val="4027657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Excess mortality in 2020 and 2021</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2930901" cy="5045672"/>
          </a:xfrm>
        </p:spPr>
        <p:txBody>
          <a:bodyPr>
            <a:normAutofit/>
          </a:bodyPr>
          <a:lstStyle/>
          <a:p>
            <a:r>
              <a:rPr lang="en-US" sz="1800" dirty="0"/>
              <a:t>No excess mortality due to suicide</a:t>
            </a:r>
          </a:p>
          <a:p>
            <a:r>
              <a:rPr lang="en-US" sz="1800" dirty="0"/>
              <a:t>Lower mortality due to</a:t>
            </a:r>
          </a:p>
          <a:p>
            <a:pPr lvl="1"/>
            <a:r>
              <a:rPr lang="en-US" sz="1800" dirty="0"/>
              <a:t>respiratory diseases</a:t>
            </a:r>
          </a:p>
          <a:p>
            <a:pPr lvl="1"/>
            <a:r>
              <a:rPr lang="en-US" sz="1800" dirty="0"/>
              <a:t>Cancers</a:t>
            </a:r>
          </a:p>
          <a:p>
            <a:pPr lvl="1"/>
            <a:r>
              <a:rPr lang="en-US" sz="1800" dirty="0"/>
              <a:t>Mental/neurological diseases</a:t>
            </a:r>
          </a:p>
          <a:p>
            <a:pPr lvl="1"/>
            <a:r>
              <a:rPr lang="en-US" sz="1800" dirty="0"/>
              <a:t>Other causes</a:t>
            </a:r>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pic>
        <p:nvPicPr>
          <p:cNvPr id="3" name="Image 2">
            <a:extLst>
              <a:ext uri="{FF2B5EF4-FFF2-40B4-BE49-F238E27FC236}">
                <a16:creationId xmlns:a16="http://schemas.microsoft.com/office/drawing/2014/main" id="{7E0BF340-E204-5EA3-B56D-C3189CCDC917}"/>
              </a:ext>
            </a:extLst>
          </p:cNvPr>
          <p:cNvPicPr>
            <a:picLocks noChangeAspect="1"/>
          </p:cNvPicPr>
          <p:nvPr/>
        </p:nvPicPr>
        <p:blipFill>
          <a:blip r:embed="rId3"/>
          <a:stretch>
            <a:fillRect/>
          </a:stretch>
        </p:blipFill>
        <p:spPr>
          <a:xfrm>
            <a:off x="3411020" y="1413860"/>
            <a:ext cx="8595635" cy="4942490"/>
          </a:xfrm>
          <a:prstGeom prst="rect">
            <a:avLst/>
          </a:prstGeom>
        </p:spPr>
      </p:pic>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11</a:t>
            </a:fld>
            <a:endParaRPr lang="de-CH" dirty="0"/>
          </a:p>
        </p:txBody>
      </p:sp>
    </p:spTree>
    <p:extLst>
      <p:ext uri="{BB962C8B-B14F-4D97-AF65-F5344CB8AC3E}">
        <p14:creationId xmlns:p14="http://schemas.microsoft.com/office/powerpoint/2010/main" val="1877414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Excess mortality in 2020 and 2021</a:t>
            </a:r>
            <a:endParaRPr lang="de-CH" sz="4000" dirty="0">
              <a:cs typeface="Courier New" panose="02070309020205020404" pitchFamily="49" charset="0"/>
            </a:endParaRPr>
          </a:p>
        </p:txBody>
      </p:sp>
      <p:pic>
        <p:nvPicPr>
          <p:cNvPr id="3" name="Image 2">
            <a:extLst>
              <a:ext uri="{FF2B5EF4-FFF2-40B4-BE49-F238E27FC236}">
                <a16:creationId xmlns:a16="http://schemas.microsoft.com/office/drawing/2014/main" id="{839C0CBC-4402-F452-E6FE-774CC040EB91}"/>
              </a:ext>
            </a:extLst>
          </p:cNvPr>
          <p:cNvPicPr>
            <a:picLocks noChangeAspect="1"/>
          </p:cNvPicPr>
          <p:nvPr/>
        </p:nvPicPr>
        <p:blipFill>
          <a:blip r:embed="rId3"/>
          <a:stretch>
            <a:fillRect/>
          </a:stretch>
        </p:blipFill>
        <p:spPr>
          <a:xfrm>
            <a:off x="3581401" y="1469428"/>
            <a:ext cx="8422490" cy="5158851"/>
          </a:xfrm>
          <a:prstGeom prst="rect">
            <a:avLst/>
          </a:prstGeom>
        </p:spPr>
      </p:pic>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12</a:t>
            </a:fld>
            <a:endParaRPr lang="de-CH" dirty="0"/>
          </a:p>
        </p:txBody>
      </p:sp>
      <p:sp>
        <p:nvSpPr>
          <p:cNvPr id="9" name="Content Placeholder 2">
            <a:extLst>
              <a:ext uri="{FF2B5EF4-FFF2-40B4-BE49-F238E27FC236}">
                <a16:creationId xmlns:a16="http://schemas.microsoft.com/office/drawing/2014/main" id="{C5BC6D2A-F1B5-3538-C591-7E2EDFAB2F43}"/>
              </a:ext>
            </a:extLst>
          </p:cNvPr>
          <p:cNvSpPr>
            <a:spLocks noGrp="1"/>
          </p:cNvSpPr>
          <p:nvPr>
            <p:ph idx="1"/>
          </p:nvPr>
        </p:nvSpPr>
        <p:spPr>
          <a:xfrm>
            <a:off x="480119" y="1469428"/>
            <a:ext cx="2930901" cy="5045672"/>
          </a:xfrm>
        </p:spPr>
        <p:txBody>
          <a:bodyPr>
            <a:normAutofit/>
          </a:bodyPr>
          <a:lstStyle/>
          <a:p>
            <a:r>
              <a:rPr lang="en-US" sz="1800" dirty="0"/>
              <a:t>Negative excess mortality when excluding COVID-19</a:t>
            </a:r>
          </a:p>
          <a:p>
            <a:r>
              <a:rPr lang="en-US" sz="1800" dirty="0"/>
              <a:t>Total excess mortality</a:t>
            </a:r>
          </a:p>
          <a:p>
            <a:pPr lvl="1"/>
            <a:r>
              <a:rPr lang="en-US" sz="1800" dirty="0"/>
              <a:t>2020: 6736</a:t>
            </a:r>
          </a:p>
          <a:p>
            <a:pPr lvl="1"/>
            <a:r>
              <a:rPr lang="en-US" sz="1800" dirty="0"/>
              <a:t>2021: -680</a:t>
            </a:r>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Tree>
    <p:extLst>
      <p:ext uri="{BB962C8B-B14F-4D97-AF65-F5344CB8AC3E}">
        <p14:creationId xmlns:p14="http://schemas.microsoft.com/office/powerpoint/2010/main" val="487089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Excess mortality by epidemic phase</a:t>
            </a:r>
            <a:endParaRPr lang="de-CH" sz="4000" dirty="0">
              <a:cs typeface="Courier New" panose="02070309020205020404" pitchFamily="49" charset="0"/>
            </a:endParaRP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13</a:t>
            </a:fld>
            <a:endParaRPr lang="de-CH"/>
          </a:p>
        </p:txBody>
      </p:sp>
      <p:pic>
        <p:nvPicPr>
          <p:cNvPr id="3" name="Image 2">
            <a:extLst>
              <a:ext uri="{FF2B5EF4-FFF2-40B4-BE49-F238E27FC236}">
                <a16:creationId xmlns:a16="http://schemas.microsoft.com/office/drawing/2014/main" id="{9040A52F-B582-5207-DC04-A58598A0673A}"/>
              </a:ext>
            </a:extLst>
          </p:cNvPr>
          <p:cNvPicPr>
            <a:picLocks noChangeAspect="1"/>
          </p:cNvPicPr>
          <p:nvPr/>
        </p:nvPicPr>
        <p:blipFill>
          <a:blip r:embed="rId3"/>
          <a:stretch>
            <a:fillRect/>
          </a:stretch>
        </p:blipFill>
        <p:spPr>
          <a:xfrm>
            <a:off x="3509500" y="1191802"/>
            <a:ext cx="8524845" cy="5225699"/>
          </a:xfrm>
          <a:prstGeom prst="rect">
            <a:avLst/>
          </a:prstGeom>
        </p:spPr>
      </p:pic>
      <p:sp>
        <p:nvSpPr>
          <p:cNvPr id="10" name="Content Placeholder 2">
            <a:extLst>
              <a:ext uri="{FF2B5EF4-FFF2-40B4-BE49-F238E27FC236}">
                <a16:creationId xmlns:a16="http://schemas.microsoft.com/office/drawing/2014/main" id="{D034AB0B-25C0-743C-6615-F1FCEB795388}"/>
              </a:ext>
            </a:extLst>
          </p:cNvPr>
          <p:cNvSpPr txBox="1">
            <a:spLocks/>
          </p:cNvSpPr>
          <p:nvPr/>
        </p:nvSpPr>
        <p:spPr>
          <a:xfrm>
            <a:off x="295183" y="1469428"/>
            <a:ext cx="3300771" cy="44587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t>Check similarity</a:t>
            </a:r>
            <a:r>
              <a:rPr lang="en-US" sz="1600"/>
              <a:t> between deaths due to COVID-19 and to other causes by phase</a:t>
            </a:r>
          </a:p>
          <a:p>
            <a:r>
              <a:rPr lang="en-US" sz="1600" b="1"/>
              <a:t>Other causes, respiratory</a:t>
            </a:r>
            <a:r>
              <a:rPr lang="en-US" sz="1600"/>
              <a:t>: almost consistently lower mortality</a:t>
            </a:r>
          </a:p>
          <a:p>
            <a:r>
              <a:rPr lang="en-US" sz="1600" b="1"/>
              <a:t>Cancer</a:t>
            </a:r>
            <a:r>
              <a:rPr lang="en-US" sz="1600"/>
              <a:t>: lower mortality in 65-79 age group during 2</a:t>
            </a:r>
            <a:r>
              <a:rPr lang="en-US" sz="1600" baseline="30000"/>
              <a:t>nd</a:t>
            </a:r>
            <a:r>
              <a:rPr lang="en-US" sz="1600"/>
              <a:t>  wave</a:t>
            </a:r>
          </a:p>
          <a:p>
            <a:pPr lvl="1"/>
            <a:r>
              <a:rPr lang="en-US" sz="1600"/>
              <a:t>“immediate” harvesting effect?</a:t>
            </a:r>
          </a:p>
          <a:p>
            <a:pPr lvl="1"/>
            <a:r>
              <a:rPr lang="en-US" sz="1600"/>
              <a:t>cancer is a risk factor for COVID-19 among 65-79 </a:t>
            </a:r>
            <a:r>
              <a:rPr lang="en-US" sz="1600" baseline="30000"/>
              <a:t>1.</a:t>
            </a:r>
            <a:endParaRPr lang="en-US" sz="1600"/>
          </a:p>
          <a:p>
            <a:r>
              <a:rPr lang="en-US" sz="1600" b="1"/>
              <a:t>Mental/neurological, cardiovascular</a:t>
            </a:r>
            <a:r>
              <a:rPr lang="en-US" sz="1600"/>
              <a:t>: lower mortality after 2</a:t>
            </a:r>
            <a:r>
              <a:rPr lang="en-US" sz="1600" baseline="30000"/>
              <a:t>nd</a:t>
            </a:r>
            <a:r>
              <a:rPr lang="en-US" sz="1600"/>
              <a:t>  wave in 80+ age group</a:t>
            </a:r>
          </a:p>
          <a:p>
            <a:pPr lvl="1"/>
            <a:r>
              <a:rPr lang="en-US" sz="1600"/>
              <a:t>delayed harvesting effect</a:t>
            </a:r>
          </a:p>
          <a:p>
            <a:pPr marL="0" indent="0">
              <a:buFont typeface="Arial" panose="020B0604020202020204" pitchFamily="34" charset="0"/>
              <a:buNone/>
            </a:pPr>
            <a:endParaRPr lang="en-US" sz="1600"/>
          </a:p>
          <a:p>
            <a:pPr marL="0" indent="0">
              <a:buFont typeface="Arial" panose="020B0604020202020204" pitchFamily="34" charset="0"/>
              <a:buNone/>
            </a:pPr>
            <a:endParaRPr lang="en-US"/>
          </a:p>
          <a:p>
            <a:pPr marL="0" indent="0">
              <a:buFont typeface="Arial" panose="020B0604020202020204" pitchFamily="34" charset="0"/>
              <a:buNone/>
            </a:pPr>
            <a:endParaRPr lang="en-US"/>
          </a:p>
          <a:p>
            <a:pPr marL="514350" indent="-514350">
              <a:buFont typeface="Arial" panose="020B0604020202020204" pitchFamily="34" charset="0"/>
              <a:buAutoNum type="arabicParenR"/>
            </a:pPr>
            <a:endParaRPr lang="en-US"/>
          </a:p>
          <a:p>
            <a:pPr lvl="1"/>
            <a:endParaRPr lang="en-US"/>
          </a:p>
          <a:p>
            <a:pPr marL="0" indent="0">
              <a:buFont typeface="Arial" panose="020B0604020202020204" pitchFamily="34" charset="0"/>
              <a:buNone/>
            </a:pPr>
            <a:endParaRPr lang="en-US"/>
          </a:p>
          <a:p>
            <a:pPr lvl="1"/>
            <a:endParaRPr lang="en-US"/>
          </a:p>
          <a:p>
            <a:pPr lvl="1"/>
            <a:endParaRPr lang="en-US"/>
          </a:p>
          <a:p>
            <a:pPr marL="0" indent="0">
              <a:buFont typeface="Arial" panose="020B0604020202020204" pitchFamily="34" charset="0"/>
              <a:buNone/>
            </a:pPr>
            <a:endParaRPr lang="en-US" b="1" dirty="0"/>
          </a:p>
        </p:txBody>
      </p:sp>
    </p:spTree>
    <p:extLst>
      <p:ext uri="{BB962C8B-B14F-4D97-AF65-F5344CB8AC3E}">
        <p14:creationId xmlns:p14="http://schemas.microsoft.com/office/powerpoint/2010/main" val="297906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Excess mortality by period</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295183" y="1469428"/>
            <a:ext cx="3300771" cy="4458761"/>
          </a:xfrm>
        </p:spPr>
        <p:txBody>
          <a:bodyPr>
            <a:normAutofit/>
          </a:bodyPr>
          <a:lstStyle/>
          <a:p>
            <a:r>
              <a:rPr lang="en-US" sz="1600" b="1" dirty="0"/>
              <a:t>Check similarity</a:t>
            </a:r>
            <a:r>
              <a:rPr lang="en-US" sz="1600" dirty="0"/>
              <a:t> between deaths due to COVID-19 and to other causes by phase</a:t>
            </a:r>
          </a:p>
          <a:p>
            <a:r>
              <a:rPr lang="en-US" sz="1600" b="1" dirty="0"/>
              <a:t>Other causes, respiratory</a:t>
            </a:r>
            <a:r>
              <a:rPr lang="en-US" sz="1600" dirty="0"/>
              <a:t>: almost consistently lower mortality</a:t>
            </a:r>
          </a:p>
          <a:p>
            <a:r>
              <a:rPr lang="en-US" sz="1600" b="1" dirty="0"/>
              <a:t>Cancer</a:t>
            </a:r>
            <a:r>
              <a:rPr lang="en-US" sz="1600" dirty="0"/>
              <a:t>: lower mortality in 65-79 age group during 2</a:t>
            </a:r>
            <a:r>
              <a:rPr lang="en-US" sz="1600" baseline="30000" dirty="0"/>
              <a:t>nd</a:t>
            </a:r>
            <a:r>
              <a:rPr lang="en-US" sz="1600" dirty="0"/>
              <a:t>  wave</a:t>
            </a:r>
          </a:p>
          <a:p>
            <a:pPr lvl="1"/>
            <a:r>
              <a:rPr lang="en-US" sz="1600" dirty="0"/>
              <a:t>“immediate” harvesting effect?</a:t>
            </a:r>
          </a:p>
          <a:p>
            <a:pPr lvl="1"/>
            <a:r>
              <a:rPr lang="en-US" sz="1600" dirty="0"/>
              <a:t>cancer is a risk factor for COVID-19 among 65-79 </a:t>
            </a:r>
            <a:r>
              <a:rPr lang="en-US" sz="1600" baseline="30000" dirty="0"/>
              <a:t>1.</a:t>
            </a:r>
            <a:endParaRPr lang="en-US" sz="1600" dirty="0"/>
          </a:p>
          <a:p>
            <a:r>
              <a:rPr lang="en-US" sz="1600" b="1" dirty="0"/>
              <a:t>Mental/neurological, cardiovascular</a:t>
            </a:r>
            <a:r>
              <a:rPr lang="en-US" sz="1600" dirty="0"/>
              <a:t>: lower mortality after 2</a:t>
            </a:r>
            <a:r>
              <a:rPr lang="en-US" sz="1600" baseline="30000" dirty="0"/>
              <a:t>nd</a:t>
            </a:r>
            <a:r>
              <a:rPr lang="en-US" sz="1600" dirty="0"/>
              <a:t>  wave in 80+ age group</a:t>
            </a:r>
          </a:p>
          <a:p>
            <a:pPr lvl="1"/>
            <a:r>
              <a:rPr lang="en-US" sz="1600" dirty="0"/>
              <a:t>delayed harvesting effect</a:t>
            </a:r>
          </a:p>
          <a:p>
            <a:pPr marL="0" indent="0">
              <a:buNone/>
            </a:pPr>
            <a:endParaRPr lang="en-US" sz="1600" dirty="0"/>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14</a:t>
            </a:fld>
            <a:endParaRPr lang="de-CH"/>
          </a:p>
        </p:txBody>
      </p:sp>
      <p:pic>
        <p:nvPicPr>
          <p:cNvPr id="3" name="Image 2">
            <a:extLst>
              <a:ext uri="{FF2B5EF4-FFF2-40B4-BE49-F238E27FC236}">
                <a16:creationId xmlns:a16="http://schemas.microsoft.com/office/drawing/2014/main" id="{94049EF3-55A8-E1F3-B195-F03E66C6E03D}"/>
              </a:ext>
            </a:extLst>
          </p:cNvPr>
          <p:cNvPicPr>
            <a:picLocks noChangeAspect="1"/>
          </p:cNvPicPr>
          <p:nvPr/>
        </p:nvPicPr>
        <p:blipFill>
          <a:blip r:embed="rId3"/>
          <a:stretch>
            <a:fillRect/>
          </a:stretch>
        </p:blipFill>
        <p:spPr>
          <a:xfrm>
            <a:off x="3815057" y="1367968"/>
            <a:ext cx="8376943" cy="5147132"/>
          </a:xfrm>
          <a:prstGeom prst="rect">
            <a:avLst/>
          </a:prstGeom>
        </p:spPr>
      </p:pic>
      <p:sp>
        <p:nvSpPr>
          <p:cNvPr id="6" name="Content Placeholder 2">
            <a:extLst>
              <a:ext uri="{FF2B5EF4-FFF2-40B4-BE49-F238E27FC236}">
                <a16:creationId xmlns:a16="http://schemas.microsoft.com/office/drawing/2014/main" id="{847B382F-C2C2-FA37-B770-E591FE7F8598}"/>
              </a:ext>
            </a:extLst>
          </p:cNvPr>
          <p:cNvSpPr txBox="1">
            <a:spLocks/>
          </p:cNvSpPr>
          <p:nvPr/>
        </p:nvSpPr>
        <p:spPr>
          <a:xfrm>
            <a:off x="380722" y="6371218"/>
            <a:ext cx="3300771" cy="5079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bg2">
                    <a:lumMod val="50000"/>
                  </a:schemeClr>
                </a:solidFill>
              </a:rPr>
              <a:t>1. Zhang (2022) Front Med.</a:t>
            </a:r>
          </a:p>
          <a:p>
            <a:pPr marL="0" indent="0">
              <a:buFont typeface="Arial" panose="020B0604020202020204" pitchFamily="34" charset="0"/>
              <a:buNone/>
            </a:pPr>
            <a:endParaRPr lang="en-US" dirty="0"/>
          </a:p>
          <a:p>
            <a:pPr marL="514350" indent="-514350">
              <a:buFont typeface="Arial" panose="020B0604020202020204" pitchFamily="34" charset="0"/>
              <a:buAutoNum type="arabicParenR"/>
            </a:pPr>
            <a:endParaRPr lang="en-US" dirty="0"/>
          </a:p>
          <a:p>
            <a:pPr lvl="1"/>
            <a:endParaRPr lang="en-US" dirty="0"/>
          </a:p>
          <a:p>
            <a:pPr marL="0" indent="0">
              <a:buFont typeface="Arial" panose="020B0604020202020204" pitchFamily="34" charset="0"/>
              <a:buNone/>
            </a:pPr>
            <a:endParaRPr lang="en-US" dirty="0"/>
          </a:p>
          <a:p>
            <a:pPr lvl="1"/>
            <a:endParaRPr lang="en-US" dirty="0"/>
          </a:p>
          <a:p>
            <a:pPr lvl="1"/>
            <a:endParaRPr lang="en-US" dirty="0"/>
          </a:p>
          <a:p>
            <a:pPr marL="0" indent="0">
              <a:buFont typeface="Arial" panose="020B0604020202020204" pitchFamily="34" charset="0"/>
              <a:buNone/>
            </a:pPr>
            <a:endParaRPr lang="en-US" b="1" dirty="0"/>
          </a:p>
        </p:txBody>
      </p:sp>
    </p:spTree>
    <p:extLst>
      <p:ext uri="{BB962C8B-B14F-4D97-AF65-F5344CB8AC3E}">
        <p14:creationId xmlns:p14="http://schemas.microsoft.com/office/powerpoint/2010/main" val="2291608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Correlation with COVID-19</a:t>
            </a:r>
            <a:endParaRPr lang="de-CH" sz="4000" dirty="0">
              <a:cs typeface="Courier New" panose="02070309020205020404" pitchFamily="49" charset="0"/>
            </a:endParaRP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15</a:t>
            </a:fld>
            <a:endParaRPr lang="de-CH"/>
          </a:p>
        </p:txBody>
      </p:sp>
      <p:pic>
        <p:nvPicPr>
          <p:cNvPr id="3" name="Image 2">
            <a:extLst>
              <a:ext uri="{FF2B5EF4-FFF2-40B4-BE49-F238E27FC236}">
                <a16:creationId xmlns:a16="http://schemas.microsoft.com/office/drawing/2014/main" id="{30D75E52-D1CA-F905-5ACE-4356AA04D1FA}"/>
              </a:ext>
            </a:extLst>
          </p:cNvPr>
          <p:cNvPicPr>
            <a:picLocks noChangeAspect="1"/>
          </p:cNvPicPr>
          <p:nvPr/>
        </p:nvPicPr>
        <p:blipFill>
          <a:blip r:embed="rId3"/>
          <a:stretch>
            <a:fillRect/>
          </a:stretch>
        </p:blipFill>
        <p:spPr>
          <a:xfrm>
            <a:off x="25761" y="2127253"/>
            <a:ext cx="6070239" cy="4335191"/>
          </a:xfrm>
          <a:prstGeom prst="rect">
            <a:avLst/>
          </a:prstGeom>
        </p:spPr>
      </p:pic>
      <p:pic>
        <p:nvPicPr>
          <p:cNvPr id="9" name="Image 8">
            <a:extLst>
              <a:ext uri="{FF2B5EF4-FFF2-40B4-BE49-F238E27FC236}">
                <a16:creationId xmlns:a16="http://schemas.microsoft.com/office/drawing/2014/main" id="{F1B85674-EA2E-AA41-B5B4-535EA7CC96CA}"/>
              </a:ext>
            </a:extLst>
          </p:cNvPr>
          <p:cNvPicPr>
            <a:picLocks noChangeAspect="1"/>
          </p:cNvPicPr>
          <p:nvPr/>
        </p:nvPicPr>
        <p:blipFill>
          <a:blip r:embed="rId4"/>
          <a:stretch>
            <a:fillRect/>
          </a:stretch>
        </p:blipFill>
        <p:spPr>
          <a:xfrm>
            <a:off x="6644830" y="2223626"/>
            <a:ext cx="5243153" cy="3854766"/>
          </a:xfrm>
          <a:prstGeom prst="rect">
            <a:avLst/>
          </a:prstGeom>
        </p:spPr>
      </p:pic>
      <p:sp>
        <p:nvSpPr>
          <p:cNvPr id="10" name="Content Placeholder 2">
            <a:extLst>
              <a:ext uri="{FF2B5EF4-FFF2-40B4-BE49-F238E27FC236}">
                <a16:creationId xmlns:a16="http://schemas.microsoft.com/office/drawing/2014/main" id="{A24DA167-DFAE-5105-9BF7-B872F2A83945}"/>
              </a:ext>
            </a:extLst>
          </p:cNvPr>
          <p:cNvSpPr>
            <a:spLocks noGrp="1"/>
          </p:cNvSpPr>
          <p:nvPr>
            <p:ph idx="1"/>
          </p:nvPr>
        </p:nvSpPr>
        <p:spPr>
          <a:xfrm>
            <a:off x="540564" y="1695962"/>
            <a:ext cx="4541824" cy="431291"/>
          </a:xfrm>
        </p:spPr>
        <p:txBody>
          <a:bodyPr>
            <a:normAutofit/>
          </a:bodyPr>
          <a:lstStyle/>
          <a:p>
            <a:pPr marL="0" indent="0">
              <a:buNone/>
            </a:pPr>
            <a:r>
              <a:rPr lang="en-US" sz="1600" b="1" dirty="0"/>
              <a:t>Deaths of different causes in 2020-2021</a:t>
            </a:r>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12" name="ZoneTexte 11">
            <a:extLst>
              <a:ext uri="{FF2B5EF4-FFF2-40B4-BE49-F238E27FC236}">
                <a16:creationId xmlns:a16="http://schemas.microsoft.com/office/drawing/2014/main" id="{C684C08B-CCEC-9950-7A3D-0177BB9D112B}"/>
              </a:ext>
            </a:extLst>
          </p:cNvPr>
          <p:cNvSpPr txBox="1"/>
          <p:nvPr/>
        </p:nvSpPr>
        <p:spPr>
          <a:xfrm>
            <a:off x="7109612" y="1695962"/>
            <a:ext cx="4718092" cy="369332"/>
          </a:xfrm>
          <a:prstGeom prst="rect">
            <a:avLst/>
          </a:prstGeom>
          <a:noFill/>
        </p:spPr>
        <p:txBody>
          <a:bodyPr wrap="square">
            <a:spAutoFit/>
          </a:bodyPr>
          <a:lstStyle/>
          <a:p>
            <a:pPr marL="0" indent="0">
              <a:buNone/>
            </a:pPr>
            <a:r>
              <a:rPr lang="en-US" sz="1800" b="1" dirty="0"/>
              <a:t>Correlation with COVID-19</a:t>
            </a:r>
          </a:p>
        </p:txBody>
      </p:sp>
    </p:spTree>
    <p:extLst>
      <p:ext uri="{BB962C8B-B14F-4D97-AF65-F5344CB8AC3E}">
        <p14:creationId xmlns:p14="http://schemas.microsoft.com/office/powerpoint/2010/main" val="273658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Correlation with COVID-19</a:t>
            </a:r>
            <a:endParaRPr lang="de-CH" sz="4000" dirty="0">
              <a:cs typeface="Courier New" panose="02070309020205020404" pitchFamily="49" charset="0"/>
            </a:endParaRPr>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16</a:t>
            </a:fld>
            <a:endParaRPr lang="de-CH"/>
          </a:p>
        </p:txBody>
      </p:sp>
      <p:pic>
        <p:nvPicPr>
          <p:cNvPr id="3" name="Image 2">
            <a:extLst>
              <a:ext uri="{FF2B5EF4-FFF2-40B4-BE49-F238E27FC236}">
                <a16:creationId xmlns:a16="http://schemas.microsoft.com/office/drawing/2014/main" id="{30D75E52-D1CA-F905-5ACE-4356AA04D1FA}"/>
              </a:ext>
            </a:extLst>
          </p:cNvPr>
          <p:cNvPicPr>
            <a:picLocks noChangeAspect="1"/>
          </p:cNvPicPr>
          <p:nvPr/>
        </p:nvPicPr>
        <p:blipFill>
          <a:blip r:embed="rId3"/>
          <a:stretch>
            <a:fillRect/>
          </a:stretch>
        </p:blipFill>
        <p:spPr>
          <a:xfrm>
            <a:off x="25761" y="2127253"/>
            <a:ext cx="6070239" cy="4335191"/>
          </a:xfrm>
          <a:prstGeom prst="rect">
            <a:avLst/>
          </a:prstGeom>
        </p:spPr>
      </p:pic>
      <p:sp>
        <p:nvSpPr>
          <p:cNvPr id="10" name="Content Placeholder 2">
            <a:extLst>
              <a:ext uri="{FF2B5EF4-FFF2-40B4-BE49-F238E27FC236}">
                <a16:creationId xmlns:a16="http://schemas.microsoft.com/office/drawing/2014/main" id="{A24DA167-DFAE-5105-9BF7-B872F2A83945}"/>
              </a:ext>
            </a:extLst>
          </p:cNvPr>
          <p:cNvSpPr>
            <a:spLocks noGrp="1"/>
          </p:cNvSpPr>
          <p:nvPr>
            <p:ph idx="1"/>
          </p:nvPr>
        </p:nvSpPr>
        <p:spPr>
          <a:xfrm>
            <a:off x="540564" y="1695962"/>
            <a:ext cx="4541824" cy="431291"/>
          </a:xfrm>
        </p:spPr>
        <p:txBody>
          <a:bodyPr>
            <a:normAutofit/>
          </a:bodyPr>
          <a:lstStyle/>
          <a:p>
            <a:pPr marL="0" indent="0">
              <a:buNone/>
            </a:pPr>
            <a:r>
              <a:rPr lang="en-US" sz="1600" b="1" dirty="0"/>
              <a:t>Deaths of different causes in 2020-2021</a:t>
            </a:r>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12" name="ZoneTexte 11">
            <a:extLst>
              <a:ext uri="{FF2B5EF4-FFF2-40B4-BE49-F238E27FC236}">
                <a16:creationId xmlns:a16="http://schemas.microsoft.com/office/drawing/2014/main" id="{C684C08B-CCEC-9950-7A3D-0177BB9D112B}"/>
              </a:ext>
            </a:extLst>
          </p:cNvPr>
          <p:cNvSpPr txBox="1"/>
          <p:nvPr/>
        </p:nvSpPr>
        <p:spPr>
          <a:xfrm>
            <a:off x="7109612" y="1695962"/>
            <a:ext cx="4718092" cy="369332"/>
          </a:xfrm>
          <a:prstGeom prst="rect">
            <a:avLst/>
          </a:prstGeom>
          <a:noFill/>
        </p:spPr>
        <p:txBody>
          <a:bodyPr wrap="square">
            <a:spAutoFit/>
          </a:bodyPr>
          <a:lstStyle/>
          <a:p>
            <a:pPr marL="0" indent="0">
              <a:buNone/>
            </a:pPr>
            <a:r>
              <a:rPr lang="en-US" sz="1800" b="1" dirty="0"/>
              <a:t>Correlation with COVID-19, adding lag</a:t>
            </a:r>
          </a:p>
        </p:txBody>
      </p:sp>
      <p:pic>
        <p:nvPicPr>
          <p:cNvPr id="2" name="Image 1">
            <a:extLst>
              <a:ext uri="{FF2B5EF4-FFF2-40B4-BE49-F238E27FC236}">
                <a16:creationId xmlns:a16="http://schemas.microsoft.com/office/drawing/2014/main" id="{53A16EAB-61CE-B6F0-FD39-55B361D0FD36}"/>
              </a:ext>
            </a:extLst>
          </p:cNvPr>
          <p:cNvPicPr>
            <a:picLocks noChangeAspect="1"/>
          </p:cNvPicPr>
          <p:nvPr/>
        </p:nvPicPr>
        <p:blipFill>
          <a:blip r:embed="rId4"/>
          <a:stretch>
            <a:fillRect/>
          </a:stretch>
        </p:blipFill>
        <p:spPr>
          <a:xfrm>
            <a:off x="6402425" y="2296636"/>
            <a:ext cx="5434962" cy="3996424"/>
          </a:xfrm>
          <a:prstGeom prst="rect">
            <a:avLst/>
          </a:prstGeom>
        </p:spPr>
      </p:pic>
    </p:spTree>
    <p:extLst>
      <p:ext uri="{BB962C8B-B14F-4D97-AF65-F5344CB8AC3E}">
        <p14:creationId xmlns:p14="http://schemas.microsoft.com/office/powerpoint/2010/main" val="587946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Correlation matrix</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3578173" cy="5045672"/>
          </a:xfrm>
        </p:spPr>
        <p:txBody>
          <a:bodyPr>
            <a:normAutofit/>
          </a:bodyPr>
          <a:lstStyle/>
          <a:p>
            <a:r>
              <a:rPr lang="en-US" sz="1600" dirty="0"/>
              <a:t>Correlations between excess mortality due to </a:t>
            </a:r>
          </a:p>
          <a:p>
            <a:pPr lvl="1"/>
            <a:r>
              <a:rPr lang="en-US" sz="1600" dirty="0"/>
              <a:t>cardiovascular,</a:t>
            </a:r>
          </a:p>
          <a:p>
            <a:pPr lvl="1"/>
            <a:r>
              <a:rPr lang="en-US" sz="1600" dirty="0"/>
              <a:t>mental/neurological and</a:t>
            </a:r>
          </a:p>
          <a:p>
            <a:pPr lvl="1"/>
            <a:r>
              <a:rPr lang="en-US" sz="1600" dirty="0"/>
              <a:t>respiratory diseases</a:t>
            </a:r>
          </a:p>
          <a:p>
            <a:r>
              <a:rPr lang="en-US" sz="1600" dirty="0"/>
              <a:t>Reason: deaths due to respiratory diseases/viruses wrongly assigned as deaths due to mental/neurological or cardiovascular disease?</a:t>
            </a:r>
          </a:p>
          <a:p>
            <a:pPr lvl="1"/>
            <a:endParaRPr lang="en-US" sz="1600" dirty="0"/>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17</a:t>
            </a:fld>
            <a:endParaRPr lang="de-CH"/>
          </a:p>
        </p:txBody>
      </p:sp>
      <p:pic>
        <p:nvPicPr>
          <p:cNvPr id="3" name="Image 2">
            <a:extLst>
              <a:ext uri="{FF2B5EF4-FFF2-40B4-BE49-F238E27FC236}">
                <a16:creationId xmlns:a16="http://schemas.microsoft.com/office/drawing/2014/main" id="{C68EFCD6-8BF8-46A0-9808-F8D79F973312}"/>
              </a:ext>
            </a:extLst>
          </p:cNvPr>
          <p:cNvPicPr>
            <a:picLocks noChangeAspect="1"/>
          </p:cNvPicPr>
          <p:nvPr/>
        </p:nvPicPr>
        <p:blipFill>
          <a:blip r:embed="rId3"/>
          <a:stretch>
            <a:fillRect/>
          </a:stretch>
        </p:blipFill>
        <p:spPr>
          <a:xfrm>
            <a:off x="4086359" y="1212351"/>
            <a:ext cx="7910742" cy="4679020"/>
          </a:xfrm>
          <a:prstGeom prst="rect">
            <a:avLst/>
          </a:prstGeom>
        </p:spPr>
      </p:pic>
    </p:spTree>
    <p:extLst>
      <p:ext uri="{BB962C8B-B14F-4D97-AF65-F5344CB8AC3E}">
        <p14:creationId xmlns:p14="http://schemas.microsoft.com/office/powerpoint/2010/main" val="2625178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Sex and regional differences</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4541824" cy="5045672"/>
          </a:xfrm>
        </p:spPr>
        <p:txBody>
          <a:bodyPr>
            <a:normAutofit/>
          </a:bodyPr>
          <a:lstStyle/>
          <a:p>
            <a:r>
              <a:rPr lang="en-US" sz="1600" dirty="0"/>
              <a:t>Almost consistently lower mortality in women compared to men</a:t>
            </a:r>
          </a:p>
          <a:p>
            <a:r>
              <a:rPr lang="en-US" sz="1600" dirty="0"/>
              <a:t>Limited variation in mortality risks between regions (e.g., cancer)</a:t>
            </a:r>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18</a:t>
            </a:fld>
            <a:endParaRPr lang="de-CH"/>
          </a:p>
        </p:txBody>
      </p:sp>
      <p:pic>
        <p:nvPicPr>
          <p:cNvPr id="10" name="Image 9">
            <a:extLst>
              <a:ext uri="{FF2B5EF4-FFF2-40B4-BE49-F238E27FC236}">
                <a16:creationId xmlns:a16="http://schemas.microsoft.com/office/drawing/2014/main" id="{F223B4CD-90C6-6AC2-3C64-94A1E03AE371}"/>
              </a:ext>
            </a:extLst>
          </p:cNvPr>
          <p:cNvPicPr>
            <a:picLocks noChangeAspect="1"/>
          </p:cNvPicPr>
          <p:nvPr/>
        </p:nvPicPr>
        <p:blipFill>
          <a:blip r:embed="rId3"/>
          <a:stretch>
            <a:fillRect/>
          </a:stretch>
        </p:blipFill>
        <p:spPr>
          <a:xfrm>
            <a:off x="5400906" y="1085502"/>
            <a:ext cx="6150306" cy="2449434"/>
          </a:xfrm>
          <a:prstGeom prst="rect">
            <a:avLst/>
          </a:prstGeom>
        </p:spPr>
      </p:pic>
      <p:pic>
        <p:nvPicPr>
          <p:cNvPr id="12" name="Image 11">
            <a:extLst>
              <a:ext uri="{FF2B5EF4-FFF2-40B4-BE49-F238E27FC236}">
                <a16:creationId xmlns:a16="http://schemas.microsoft.com/office/drawing/2014/main" id="{D12CBB17-45D2-F489-AA19-E9471C55D33D}"/>
              </a:ext>
            </a:extLst>
          </p:cNvPr>
          <p:cNvPicPr>
            <a:picLocks noChangeAspect="1"/>
          </p:cNvPicPr>
          <p:nvPr/>
        </p:nvPicPr>
        <p:blipFill>
          <a:blip r:embed="rId4"/>
          <a:stretch>
            <a:fillRect/>
          </a:stretch>
        </p:blipFill>
        <p:spPr>
          <a:xfrm>
            <a:off x="5363002" y="3525438"/>
            <a:ext cx="6495195" cy="3284926"/>
          </a:xfrm>
          <a:prstGeom prst="rect">
            <a:avLst/>
          </a:prstGeom>
        </p:spPr>
      </p:pic>
    </p:spTree>
    <p:extLst>
      <p:ext uri="{BB962C8B-B14F-4D97-AF65-F5344CB8AC3E}">
        <p14:creationId xmlns:p14="http://schemas.microsoft.com/office/powerpoint/2010/main" val="1506021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Summary</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11027940" cy="5045672"/>
          </a:xfrm>
        </p:spPr>
        <p:txBody>
          <a:bodyPr>
            <a:normAutofit/>
          </a:bodyPr>
          <a:lstStyle/>
          <a:p>
            <a:r>
              <a:rPr lang="en-US" sz="1600" dirty="0"/>
              <a:t>We developed </a:t>
            </a:r>
            <a:r>
              <a:rPr lang="en-US" sz="1600" b="1" dirty="0"/>
              <a:t>a statistical model </a:t>
            </a:r>
            <a:r>
              <a:rPr lang="en-US" sz="1600" dirty="0"/>
              <a:t>to identify excess mortality by cause in Switzerland during COVID-19 pandemic, integrating several features into the calculation of expected mortality (seasonality, long-term trend, correlation between causes, effect of sex, region).</a:t>
            </a:r>
          </a:p>
          <a:p>
            <a:r>
              <a:rPr lang="en-US" sz="1600" dirty="0"/>
              <a:t>Deaths due to some causes (e.g., cardiovascular or mental/neurological diseases) are </a:t>
            </a:r>
            <a:r>
              <a:rPr lang="en-US" sz="1600" b="1" dirty="0"/>
              <a:t>correlated with COVID-19</a:t>
            </a:r>
            <a:r>
              <a:rPr lang="en-US" sz="1600" dirty="0"/>
              <a:t> deaths</a:t>
            </a:r>
          </a:p>
          <a:p>
            <a:pPr lvl="1"/>
            <a:r>
              <a:rPr lang="en-US" sz="1600" dirty="0"/>
              <a:t>Mortality displacement</a:t>
            </a:r>
          </a:p>
          <a:p>
            <a:pPr lvl="1"/>
            <a:r>
              <a:rPr lang="en-US" sz="1600" dirty="0"/>
              <a:t>Incorrect assignment of deaths (cardiovascular -&gt; COVID-19)</a:t>
            </a:r>
          </a:p>
          <a:p>
            <a:r>
              <a:rPr lang="en-US" sz="1600" dirty="0"/>
              <a:t>Correlation between deaths due to </a:t>
            </a:r>
            <a:r>
              <a:rPr lang="en-US" sz="1600" b="1" dirty="0"/>
              <a:t>respiratory diseases and cardiovascular or mental/neurological diseases </a:t>
            </a:r>
            <a:r>
              <a:rPr lang="en-US" sz="1600" dirty="0"/>
              <a:t>also identified before the pandemic.</a:t>
            </a:r>
          </a:p>
          <a:p>
            <a:pPr lvl="1"/>
            <a:r>
              <a:rPr lang="en-US" sz="1600" dirty="0"/>
              <a:t>Incorrect assignment of deaths (cardiovascular -&gt; respiratory disease)</a:t>
            </a:r>
          </a:p>
          <a:p>
            <a:r>
              <a:rPr lang="en-US" sz="1600" dirty="0"/>
              <a:t>Underestimation of mortality due to respiratory diseases or COVID-19</a:t>
            </a:r>
          </a:p>
          <a:p>
            <a:r>
              <a:rPr lang="en-US" sz="1600" dirty="0"/>
              <a:t>Lower excess mortality due to cancer in population aged 65-79 during epidemic wave</a:t>
            </a:r>
          </a:p>
          <a:p>
            <a:pPr lvl="1"/>
            <a:r>
              <a:rPr lang="en-US" sz="1600" dirty="0"/>
              <a:t>Incorrect assignment deaths (COVID-19 -&gt; cancer)?</a:t>
            </a:r>
          </a:p>
          <a:p>
            <a:pPr lvl="1"/>
            <a:r>
              <a:rPr lang="en-US" sz="1600" dirty="0"/>
              <a:t>Effect is marginal</a:t>
            </a:r>
            <a:endParaRPr lang="en-US" sz="2000" dirty="0"/>
          </a:p>
          <a:p>
            <a:r>
              <a:rPr lang="en-US" sz="1600" dirty="0"/>
              <a:t>Next steps:</a:t>
            </a:r>
          </a:p>
          <a:p>
            <a:pPr lvl="1"/>
            <a:r>
              <a:rPr lang="en-US" sz="1600" dirty="0"/>
              <a:t>Other causes: difficult to interpret the results as it mixed different causes -&gt; define more categories</a:t>
            </a:r>
          </a:p>
          <a:p>
            <a:pPr lvl="1"/>
            <a:r>
              <a:rPr lang="en-US" sz="1600" dirty="0"/>
              <a:t>Integrate mortality from 2022 and 2023</a:t>
            </a:r>
          </a:p>
          <a:p>
            <a:pPr marL="0" indent="0">
              <a:buNone/>
            </a:pPr>
            <a:endParaRPr lang="en-US" sz="1600" dirty="0"/>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19</a:t>
            </a:fld>
            <a:endParaRPr lang="de-CH"/>
          </a:p>
        </p:txBody>
      </p:sp>
    </p:spTree>
    <p:extLst>
      <p:ext uri="{BB962C8B-B14F-4D97-AF65-F5344CB8AC3E}">
        <p14:creationId xmlns:p14="http://schemas.microsoft.com/office/powerpoint/2010/main" val="1208818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DE0727-2AD0-60D0-4C5F-5A7C2346BAEF}"/>
              </a:ext>
            </a:extLst>
          </p:cNvPr>
          <p:cNvSpPr/>
          <p:nvPr/>
        </p:nvSpPr>
        <p:spPr>
          <a:xfrm>
            <a:off x="0" y="-79377"/>
            <a:ext cx="12192000" cy="1164879"/>
          </a:xfrm>
          <a:prstGeom prst="rect">
            <a:avLst/>
          </a:prstGeom>
          <a:solidFill>
            <a:srgbClr val="6AB7C6"/>
          </a:solidFill>
          <a:ln>
            <a:noFill/>
          </a:ln>
        </p:spPr>
        <p:style>
          <a:lnRef idx="2">
            <a:schemeClr val="accent1">
              <a:shade val="50000"/>
            </a:schemeClr>
          </a:lnRef>
          <a:fillRef idx="1">
            <a:schemeClr val="accent1"/>
          </a:fillRef>
          <a:effectRef idx="0">
            <a:schemeClr val="accent1"/>
          </a:effectRef>
          <a:fontRef idx="minor">
            <a:schemeClr val="lt1"/>
          </a:fontRef>
        </p:style>
        <p:txBody>
          <a:bodyPr lIns="576000" rtlCol="0" anchor="ctr"/>
          <a:lstStyle/>
          <a:p>
            <a:r>
              <a:rPr lang="en-US" sz="4000" dirty="0">
                <a:cs typeface="Courier New" panose="02070309020205020404" pitchFamily="49" charset="0"/>
              </a:rPr>
              <a:t>Questions?</a:t>
            </a:r>
            <a:endParaRPr lang="de-CH" sz="4000" dirty="0">
              <a:cs typeface="Courier New" panose="02070309020205020404" pitchFamily="49" charset="0"/>
            </a:endParaRPr>
          </a:p>
        </p:txBody>
      </p:sp>
      <p:sp>
        <p:nvSpPr>
          <p:cNvPr id="5" name="Content Placeholder 2">
            <a:extLst>
              <a:ext uri="{FF2B5EF4-FFF2-40B4-BE49-F238E27FC236}">
                <a16:creationId xmlns:a16="http://schemas.microsoft.com/office/drawing/2014/main" id="{30F10EBE-C6CA-53EC-3548-399CE3423066}"/>
              </a:ext>
            </a:extLst>
          </p:cNvPr>
          <p:cNvSpPr>
            <a:spLocks noGrp="1"/>
          </p:cNvSpPr>
          <p:nvPr>
            <p:ph idx="1"/>
          </p:nvPr>
        </p:nvSpPr>
        <p:spPr>
          <a:xfrm>
            <a:off x="480119" y="1469428"/>
            <a:ext cx="11027940" cy="5045672"/>
          </a:xfrm>
        </p:spPr>
        <p:txBody>
          <a:bodyPr>
            <a:normAutofit/>
          </a:bodyPr>
          <a:lstStyle/>
          <a:p>
            <a:pPr marL="0" indent="0">
              <a:buNone/>
            </a:pPr>
            <a:endParaRPr lang="en-US" sz="1600" dirty="0"/>
          </a:p>
          <a:p>
            <a:pPr marL="0" indent="0">
              <a:buNone/>
            </a:pPr>
            <a:endParaRPr lang="en-US" dirty="0"/>
          </a:p>
          <a:p>
            <a:pPr marL="0" indent="0">
              <a:buNone/>
            </a:pPr>
            <a:endParaRPr lang="en-US" dirty="0"/>
          </a:p>
          <a:p>
            <a:pPr marL="514350" indent="-514350">
              <a:buAutoNum type="arabicParenR"/>
            </a:pPr>
            <a:endParaRPr lang="en-US" dirty="0"/>
          </a:p>
          <a:p>
            <a:pPr lvl="1"/>
            <a:endParaRPr lang="en-US" dirty="0"/>
          </a:p>
          <a:p>
            <a:pPr marL="0" indent="0">
              <a:buNone/>
            </a:pPr>
            <a:endParaRPr lang="en-US" dirty="0"/>
          </a:p>
          <a:p>
            <a:pPr lvl="1"/>
            <a:endParaRPr lang="en-US" dirty="0"/>
          </a:p>
          <a:p>
            <a:pPr lvl="1"/>
            <a:endParaRPr lang="en-US" dirty="0"/>
          </a:p>
          <a:p>
            <a:pPr marL="0" indent="0">
              <a:buNone/>
            </a:pPr>
            <a:endParaRPr lang="en-US" b="1" dirty="0"/>
          </a:p>
        </p:txBody>
      </p:sp>
      <p:sp>
        <p:nvSpPr>
          <p:cNvPr id="8" name="Slide Number Placeholder 7">
            <a:extLst>
              <a:ext uri="{FF2B5EF4-FFF2-40B4-BE49-F238E27FC236}">
                <a16:creationId xmlns:a16="http://schemas.microsoft.com/office/drawing/2014/main" id="{D48339F2-FB24-BC3A-C4E8-BEA71177B1FD}"/>
              </a:ext>
            </a:extLst>
          </p:cNvPr>
          <p:cNvSpPr>
            <a:spLocks noGrp="1"/>
          </p:cNvSpPr>
          <p:nvPr>
            <p:ph type="sldNum" sz="quarter" idx="12"/>
          </p:nvPr>
        </p:nvSpPr>
        <p:spPr/>
        <p:txBody>
          <a:bodyPr/>
          <a:lstStyle/>
          <a:p>
            <a:fld id="{5368CAA0-23FB-4232-908B-CB576EB202C9}" type="slidenum">
              <a:rPr lang="de-CH" smtClean="0"/>
              <a:t>20</a:t>
            </a:fld>
            <a:endParaRPr lang="de-CH"/>
          </a:p>
        </p:txBody>
      </p:sp>
    </p:spTree>
    <p:extLst>
      <p:ext uri="{BB962C8B-B14F-4D97-AF65-F5344CB8AC3E}">
        <p14:creationId xmlns:p14="http://schemas.microsoft.com/office/powerpoint/2010/main" val="210356307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38466</TotalTime>
  <Words>1614</Words>
  <Application>Microsoft Office PowerPoint</Application>
  <PresentationFormat>Grand écran</PresentationFormat>
  <Paragraphs>313</Paragraphs>
  <Slides>20</Slides>
  <Notes>20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20</vt:i4>
      </vt:variant>
    </vt:vector>
  </HeadingPairs>
  <TitlesOfParts>
    <vt:vector size="27" baseType="lpstr">
      <vt:lpstr>Arial</vt:lpstr>
      <vt:lpstr>Calibri</vt:lpstr>
      <vt:lpstr>Calibri Light</vt:lpstr>
      <vt:lpstr>Cambria Math</vt:lpstr>
      <vt:lpstr>Courier New</vt:lpstr>
      <vt:lpstr>Helvetica Neue</vt:lpstr>
      <vt:lpstr>Thème Office</vt:lpstr>
      <vt:lpstr>Examining excess mortality by cause during the COVID-19 pandemic in Switzerland</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SARS-CoV-2 epidemiology among people living with HIV in Switzerland and Lesotho</dc:title>
  <dc:creator>Lee</dc:creator>
  <cp:lastModifiedBy>Hauser Anthony</cp:lastModifiedBy>
  <cp:revision>814</cp:revision>
  <dcterms:created xsi:type="dcterms:W3CDTF">2023-03-02T13:06:51Z</dcterms:created>
  <dcterms:modified xsi:type="dcterms:W3CDTF">2025-01-09T11:02:40Z</dcterms:modified>
</cp:coreProperties>
</file>